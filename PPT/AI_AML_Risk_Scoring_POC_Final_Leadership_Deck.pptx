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841248"/>
            <a:ext cx="6217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 an AI-Driven</a:t>
            </a:r>
            <a:endParaRPr lang="en-US" sz="2750" dirty="0"/>
          </a:p>
          <a:p>
            <a:pPr indent="0" marL="0">
              <a:buNone/>
            </a:pPr>
            <a:r>
              <a:rPr lang="en-US" sz="2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AML Risk Scoring POC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04088" y="190195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historical internal data to predict Low / Medium / High AML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86384" y="3822192"/>
            <a:ext cx="1325880" cy="502920"/>
          </a:xfrm>
          <a:prstGeom prst="roundRect">
            <a:avLst/>
          </a:prstGeom>
          <a:solidFill>
            <a:srgbClr val="0D304C"/>
          </a:solidFill>
          <a:ln w="12700">
            <a:solidFill>
              <a:srgbClr val="24506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Data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2148840" y="4078224"/>
            <a:ext cx="530352" cy="0"/>
          </a:xfrm>
          <a:prstGeom prst="line">
            <a:avLst/>
          </a:prstGeom>
          <a:noFill/>
          <a:ln w="13970">
            <a:solidFill>
              <a:srgbClr val="6EA5C8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2743200" y="3822192"/>
            <a:ext cx="1325880" cy="502920"/>
          </a:xfrm>
          <a:prstGeom prst="roundRect">
            <a:avLst/>
          </a:prstGeom>
          <a:solidFill>
            <a:srgbClr val="0D304C"/>
          </a:solidFill>
          <a:ln w="12700">
            <a:solidFill>
              <a:srgbClr val="24506D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Risk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4114800" y="4078224"/>
            <a:ext cx="530352" cy="0"/>
          </a:xfrm>
          <a:prstGeom prst="line">
            <a:avLst/>
          </a:prstGeom>
          <a:noFill/>
          <a:ln w="13970">
            <a:solidFill>
              <a:srgbClr val="6EA5C8"/>
            </a:solidFill>
            <a:prstDash val="solid"/>
            <a:headEnd type="none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4800600" y="3895344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D9F3E9"/>
          </a:solidFill>
          <a:ln>
            <a:solidFill>
              <a:srgbClr val="D9F3E9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632704" y="3895344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1CA"/>
          </a:solidFill>
          <a:ln>
            <a:solidFill>
              <a:srgbClr val="FFF1CA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6638544" y="3895344"/>
            <a:ext cx="749808" cy="310896"/>
          </a:xfrm>
          <a:prstGeom prst="roundRect">
            <a:avLst>
              <a:gd name="adj" fmla="val 23529"/>
            </a:avLst>
          </a:prstGeom>
          <a:solidFill>
            <a:srgbClr val="FFD8DE"/>
          </a:solidFill>
          <a:ln>
            <a:solidFill>
              <a:srgbClr val="FFD8DE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8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13232" y="61996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000"/>
              <a:t>Leadership review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9326880" y="164592"/>
            <a:ext cx="2148840" cy="2148840"/>
          </a:xfrm>
          <a:prstGeom prst="arc">
            <a:avLst/>
          </a:prstGeom>
          <a:noFill/>
          <a:ln w="38100">
            <a:solidFill>
              <a:srgbClr val="19A8A6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38360" y="566928"/>
            <a:ext cx="1508760" cy="1508760"/>
          </a:xfrm>
          <a:prstGeom prst="arc">
            <a:avLst/>
          </a:prstGeom>
          <a:noFill/>
          <a:ln w="38100">
            <a:solidFill>
              <a:srgbClr val="1F6D8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EXECUTIVE SUMMARY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200"/>
              <a:t>What the POC demonstrates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A trained model can already generate explainable Low / Medium / High AML risk predictions from internal historical data.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4434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200" b="1"/>
              <a:t>What is completed</a:t>
            </a:r>
            <a:endParaRPr lang="en-US" sz="850" dirty="0"/>
          </a:p>
          <a:p>
            <a:r>
              <a:rPr sz="1200"/>
              <a:t>Internal historical data was converted into a trainable AML risk model.</a:t>
            </a:r>
          </a:p>
        </p:txBody>
      </p:sp>
      <p:sp>
        <p:nvSpPr>
          <p:cNvPr id="9" name="Shape 7"/>
          <p:cNvSpPr/>
          <p:nvPr/>
        </p:nvSpPr>
        <p:spPr>
          <a:xfrm>
            <a:off x="685800" y="1783080"/>
            <a:ext cx="50292" cy="685800"/>
          </a:xfrm>
          <a:prstGeom prst="rect">
            <a:avLst/>
          </a:prstGeom>
          <a:solidFill>
            <a:srgbClr val="19A8A6"/>
          </a:solidFill>
          <a:ln w="12700">
            <a:solidFill>
              <a:srgbClr val="19A8A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51760"/>
            <a:ext cx="4434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200" b="1"/>
              <a:t>What the model outputs</a:t>
            </a:r>
            <a:endParaRPr lang="en-US" sz="850" dirty="0"/>
          </a:p>
          <a:p>
            <a:r>
              <a:rPr sz="1200"/>
              <a:t>Low / Medium / High risk prediction with class probabilities.</a:t>
            </a:r>
          </a:p>
        </p:txBody>
      </p:sp>
      <p:sp>
        <p:nvSpPr>
          <p:cNvPr id="11" name="Shape 9"/>
          <p:cNvSpPr/>
          <p:nvPr/>
        </p:nvSpPr>
        <p:spPr>
          <a:xfrm>
            <a:off x="685800" y="2651760"/>
            <a:ext cx="50292" cy="6858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20440"/>
            <a:ext cx="44348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200" b="1"/>
              <a:t>Why it matters</a:t>
            </a:r>
            <a:endParaRPr lang="en-US" sz="850" dirty="0"/>
          </a:p>
          <a:p>
            <a:r>
              <a:rPr sz="1200"/>
              <a:t>Validation, demo scoring, and explainability can support analyst review.</a:t>
            </a:r>
          </a:p>
        </p:txBody>
      </p:sp>
      <p:sp>
        <p:nvSpPr>
          <p:cNvPr id="13" name="Shape 11"/>
          <p:cNvSpPr/>
          <p:nvPr/>
        </p:nvSpPr>
        <p:spPr>
          <a:xfrm>
            <a:off x="685800" y="3520440"/>
            <a:ext cx="50292" cy="68580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745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300"/>
              <a:t>Recommended direction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08243A"/>
          </a:solidFill>
          <a:ln>
            <a:solidFill>
              <a:srgbClr val="08243A">
                <a:alpha val="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sz="2000"/>
              <a:t>Move from a local model POC</a:t>
            </a:r>
            <a:endParaRPr lang="en-US" sz="1850" dirty="0"/>
          </a:p>
          <a:p>
            <a:r>
              <a:rPr sz="2000"/>
              <a:t>to a controlled AML</a:t>
            </a:r>
          </a:p>
          <a:p>
            <a:r>
              <a:rPr sz="2000"/>
              <a:t>decision-support prototype.</a:t>
            </a:r>
          </a:p>
        </p:txBody>
      </p:sp>
      <p:sp>
        <p:nvSpPr>
          <p:cNvPr id="16" name="Text 14"/>
          <p:cNvSpPr/>
          <p:nvPr/>
        </p:nvSpPr>
        <p:spPr>
          <a:xfrm>
            <a:off x="6601968" y="3383280"/>
            <a:ext cx="3584448" cy="310896"/>
          </a:xfrm>
          <a:prstGeom prst="roundRect">
            <a:avLst/>
          </a:prstGeom>
          <a:solidFill>
            <a:srgbClr val="DDF2A2"/>
          </a:solidFill>
          <a:ln>
            <a:solidFill>
              <a:srgbClr val="DDF2A2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sz="1100"/>
              <a:t>Positioning: AI supports analyst review and prioritization; it does not replace final AML judgment.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685800" y="565099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Recommended ask: approve a short next-step cycle to package the model behind a simple prediction API or demo interface.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WORKFLOW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200"/>
              <a:t>End-to-End AML Risk Scoring Flow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From historical client data to repeatable, explainable risk prediction.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21792" y="2423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sz="1100"/>
              <a:t>Historical</a:t>
            </a:r>
            <a:endParaRPr lang="en-US" sz="910" dirty="0"/>
          </a:p>
          <a:p>
            <a:r>
              <a:rPr sz="1100"/>
              <a:t>Client Data</a:t>
            </a:r>
          </a:p>
          <a:p>
            <a:r>
              <a:rPr sz="1100"/>
              <a:t>Internal client, KYC, and AML attributes</a:t>
            </a:r>
          </a:p>
        </p:txBody>
      </p:sp>
      <p:sp>
        <p:nvSpPr>
          <p:cNvPr id="9" name="Shape 7"/>
          <p:cNvSpPr/>
          <p:nvPr/>
        </p:nvSpPr>
        <p:spPr>
          <a:xfrm>
            <a:off x="621792" y="2423160"/>
            <a:ext cx="41148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9464" y="2880360"/>
            <a:ext cx="219456" cy="0"/>
          </a:xfrm>
          <a:prstGeom prst="line">
            <a:avLst/>
          </a:prstGeom>
          <a:noFill/>
          <a:ln w="1397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880360" y="2423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sz="1100"/>
              <a:t>Feature</a:t>
            </a:r>
            <a:endParaRPr lang="en-US" sz="910" dirty="0"/>
          </a:p>
          <a:p>
            <a:r>
              <a:rPr sz="1100"/>
              <a:t>Preparation</a:t>
            </a:r>
          </a:p>
          <a:p>
            <a:r>
              <a:rPr sz="1100"/>
              <a:t>Cleaned and model-ready fields</a:t>
            </a:r>
          </a:p>
        </p:txBody>
      </p:sp>
      <p:sp>
        <p:nvSpPr>
          <p:cNvPr id="12" name="Shape 10"/>
          <p:cNvSpPr/>
          <p:nvPr/>
        </p:nvSpPr>
        <p:spPr>
          <a:xfrm>
            <a:off x="2880360" y="2423160"/>
            <a:ext cx="41148" cy="914400"/>
          </a:xfrm>
          <a:prstGeom prst="rect">
            <a:avLst/>
          </a:prstGeom>
          <a:solidFill>
            <a:srgbClr val="19A8A6"/>
          </a:solidFill>
          <a:ln w="12700">
            <a:solidFill>
              <a:srgbClr val="19A8A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2880360"/>
            <a:ext cx="219456" cy="0"/>
          </a:xfrm>
          <a:prstGeom prst="line">
            <a:avLst/>
          </a:prstGeom>
          <a:noFill/>
          <a:ln w="1397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138928" y="2423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sz="1100"/>
              <a:t>Known</a:t>
            </a:r>
            <a:endParaRPr lang="en-US" sz="910" dirty="0"/>
          </a:p>
          <a:p>
            <a:r>
              <a:rPr sz="1100"/>
              <a:t>Risk Labels</a:t>
            </a:r>
          </a:p>
          <a:p>
            <a:r>
              <a:rPr sz="1100"/>
              <a:t>Historical Low / Medium / High outcomes</a:t>
            </a:r>
          </a:p>
        </p:txBody>
      </p:sp>
      <p:sp>
        <p:nvSpPr>
          <p:cNvPr id="15" name="Shape 13"/>
          <p:cNvSpPr/>
          <p:nvPr/>
        </p:nvSpPr>
        <p:spPr>
          <a:xfrm>
            <a:off x="5138928" y="2423160"/>
            <a:ext cx="41148" cy="91440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2880360"/>
            <a:ext cx="219456" cy="0"/>
          </a:xfrm>
          <a:prstGeom prst="line">
            <a:avLst/>
          </a:prstGeom>
          <a:noFill/>
          <a:ln w="1397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397496" y="2423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sz="1100"/>
              <a:t>Trained</a:t>
            </a:r>
            <a:endParaRPr lang="en-US" sz="910" dirty="0"/>
          </a:p>
          <a:p>
            <a:r>
              <a:rPr sz="1100"/>
              <a:t>ML Model</a:t>
            </a:r>
          </a:p>
          <a:p>
            <a:r>
              <a:rPr sz="1100"/>
              <a:t>Learns patterns from historical cases</a:t>
            </a:r>
          </a:p>
        </p:txBody>
      </p:sp>
      <p:sp>
        <p:nvSpPr>
          <p:cNvPr id="18" name="Shape 16"/>
          <p:cNvSpPr/>
          <p:nvPr/>
        </p:nvSpPr>
        <p:spPr>
          <a:xfrm>
            <a:off x="7397496" y="2423160"/>
            <a:ext cx="41148" cy="914400"/>
          </a:xfrm>
          <a:prstGeom prst="rect">
            <a:avLst/>
          </a:prstGeom>
          <a:solidFill>
            <a:srgbClr val="08243A"/>
          </a:solidFill>
          <a:ln w="12700">
            <a:solidFill>
              <a:srgbClr val="08243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45168" y="2880360"/>
            <a:ext cx="219456" cy="0"/>
          </a:xfrm>
          <a:prstGeom prst="line">
            <a:avLst/>
          </a:prstGeom>
          <a:noFill/>
          <a:ln w="1397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9656064" y="242316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397" tIns="1397" rIns="1397" bIns="1397" rtlCol="0" anchor="ctr">
            <a:normAutofit/>
          </a:bodyPr>
          <a:lstStyle/>
          <a:p>
            <a:pPr indent="0" marL="0">
              <a:buNone/>
            </a:pPr>
            <a:r>
              <a:rPr sz="1100"/>
              <a:t>Risk</a:t>
            </a:r>
            <a:endParaRPr lang="en-US" sz="910" dirty="0"/>
          </a:p>
          <a:p>
            <a:r>
              <a:rPr sz="1100"/>
              <a:t>Prediction</a:t>
            </a:r>
          </a:p>
          <a:p>
            <a:r>
              <a:rPr sz="1100"/>
              <a:t>Rating plus confidence score</a:t>
            </a:r>
          </a:p>
        </p:txBody>
      </p:sp>
      <p:sp>
        <p:nvSpPr>
          <p:cNvPr id="21" name="Shape 19"/>
          <p:cNvSpPr/>
          <p:nvPr/>
        </p:nvSpPr>
        <p:spPr>
          <a:xfrm>
            <a:off x="9656064" y="2423160"/>
            <a:ext cx="41148" cy="914400"/>
          </a:xfrm>
          <a:prstGeom prst="rect">
            <a:avLst/>
          </a:prstGeom>
          <a:solidFill>
            <a:srgbClr val="2EB67D"/>
          </a:solidFill>
          <a:ln w="12700">
            <a:solidFill>
              <a:srgbClr val="2EB67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300"/>
              <a:t>Leadership view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4407408"/>
            <a:ext cx="10607040" cy="749808"/>
          </a:xfrm>
          <a:prstGeom prst="roundRect">
            <a:avLst>
              <a:gd name="adj" fmla="val 9756"/>
            </a:avLst>
          </a:prstGeom>
          <a:solidFill>
            <a:srgbClr val="EEF7FF"/>
          </a:solidFill>
          <a:ln w="10160">
            <a:solidFill>
              <a:srgbClr val="BCD7F3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sz="1300"/>
              <a:t>The model learns from past cases with known AML risk outcomes and applies those learned patterns to new client records.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MODEL INPUTS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200"/>
              <a:t>Risk Factors Evaluated by the Model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The model evaluates multiple risk dimensions together rather than relying on a single indicator.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4617720" y="2761488"/>
            <a:ext cx="2743200" cy="841248"/>
          </a:xfrm>
          <a:prstGeom prst="roundRect">
            <a:avLst>
              <a:gd name="adj" fmla="val 8696"/>
            </a:avLst>
          </a:prstGeom>
          <a:solidFill>
            <a:srgbClr val="08243A"/>
          </a:solidFill>
          <a:ln>
            <a:solidFill>
              <a:srgbClr val="08243A">
                <a:alpha val="0"/>
              </a:srgbClr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sz="1600"/>
              <a:t>ML Risk Model</a:t>
            </a:r>
            <a:endParaRPr lang="en-US" sz="1520" dirty="0"/>
          </a:p>
          <a:p>
            <a:r>
              <a:rPr sz="1600"/>
              <a:t>combines multiple risk dimensions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19659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100" b="1"/>
              <a:t>Customer Profile</a:t>
            </a:r>
            <a:endParaRPr lang="en-US" sz="850" dirty="0"/>
          </a:p>
          <a:p>
            <a:r>
              <a:rPr sz="1100"/>
              <a:t>Customer type</a:t>
            </a:r>
          </a:p>
          <a:p>
            <a:r>
              <a:rPr sz="1100"/>
              <a:t>Legal entity type</a:t>
            </a:r>
          </a:p>
          <a:p>
            <a:r>
              <a:rPr sz="1100"/>
              <a:t>Client segment</a:t>
            </a:r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50292" cy="868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9659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DECE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100" b="1"/>
              <a:t>KYC / AML Factors</a:t>
            </a:r>
            <a:endParaRPr lang="en-US" sz="850" dirty="0"/>
          </a:p>
          <a:p>
            <a:r>
              <a:rPr sz="1100"/>
              <a:t>PEP indicator</a:t>
            </a:r>
          </a:p>
          <a:p>
            <a:r>
              <a:rPr sz="1100"/>
              <a:t>Sanctions-related indicators</a:t>
            </a:r>
          </a:p>
          <a:p>
            <a:r>
              <a:rPr sz="1100"/>
              <a:t>Ownership complexity</a:t>
            </a:r>
          </a:p>
        </p:txBody>
      </p:sp>
      <p:sp>
        <p:nvSpPr>
          <p:cNvPr id="12" name="Shape 10"/>
          <p:cNvSpPr/>
          <p:nvPr/>
        </p:nvSpPr>
        <p:spPr>
          <a:xfrm>
            <a:off x="8366760" y="1965960"/>
            <a:ext cx="50292" cy="868680"/>
          </a:xfrm>
          <a:prstGeom prst="rect">
            <a:avLst/>
          </a:prstGeom>
          <a:solidFill>
            <a:srgbClr val="E83E67"/>
          </a:solidFill>
          <a:ln w="12700">
            <a:solidFill>
              <a:srgbClr val="E83E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4164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EAF8F7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100" b="1"/>
              <a:t>Geographic Risk</a:t>
            </a:r>
            <a:endParaRPr lang="en-US" sz="850" dirty="0"/>
          </a:p>
          <a:p>
            <a:r>
              <a:rPr sz="1100"/>
              <a:t>Country of incorporation</a:t>
            </a:r>
          </a:p>
          <a:p>
            <a:r>
              <a:rPr sz="1100"/>
              <a:t>Country of operation</a:t>
            </a:r>
          </a:p>
          <a:p>
            <a:r>
              <a:rPr sz="1100"/>
              <a:t>High-risk jurisdiction flag</a:t>
            </a:r>
          </a:p>
        </p:txBody>
      </p:sp>
      <p:sp>
        <p:nvSpPr>
          <p:cNvPr id="14" name="Shape 12"/>
          <p:cNvSpPr/>
          <p:nvPr/>
        </p:nvSpPr>
        <p:spPr>
          <a:xfrm>
            <a:off x="868680" y="4041648"/>
            <a:ext cx="50292" cy="868680"/>
          </a:xfrm>
          <a:prstGeom prst="rect">
            <a:avLst/>
          </a:prstGeom>
          <a:solidFill>
            <a:srgbClr val="19A8A6"/>
          </a:solidFill>
          <a:ln w="12700">
            <a:solidFill>
              <a:srgbClr val="19A8A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4041648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FFF6E6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100" b="1"/>
              <a:t>Relationship / Activity</a:t>
            </a:r>
            <a:endParaRPr lang="en-US" sz="850" dirty="0"/>
          </a:p>
          <a:p>
            <a:r>
              <a:rPr sz="1100"/>
              <a:t>Product type</a:t>
            </a:r>
          </a:p>
          <a:p>
            <a:r>
              <a:rPr sz="1100"/>
              <a:t>Relationship type</a:t>
            </a:r>
          </a:p>
          <a:p>
            <a:r>
              <a:rPr sz="1100"/>
              <a:t>Activity indicators</a:t>
            </a:r>
          </a:p>
        </p:txBody>
      </p:sp>
      <p:sp>
        <p:nvSpPr>
          <p:cNvPr id="16" name="Shape 14"/>
          <p:cNvSpPr/>
          <p:nvPr/>
        </p:nvSpPr>
        <p:spPr>
          <a:xfrm>
            <a:off x="8366760" y="4041648"/>
            <a:ext cx="50292" cy="86868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2423160"/>
            <a:ext cx="960120" cy="621792"/>
          </a:xfrm>
          <a:prstGeom prst="line">
            <a:avLst/>
          </a:prstGeom>
          <a:noFill/>
          <a:ln w="1270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52360" y="3044952"/>
            <a:ext cx="868680" cy="-621792"/>
          </a:xfrm>
          <a:prstGeom prst="line">
            <a:avLst/>
          </a:prstGeom>
          <a:noFill/>
          <a:ln w="1270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520440" y="4480560"/>
            <a:ext cx="960120" cy="-594360"/>
          </a:xfrm>
          <a:prstGeom prst="line">
            <a:avLst/>
          </a:prstGeom>
          <a:noFill/>
          <a:ln w="1270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52360" y="3886200"/>
            <a:ext cx="868680" cy="594360"/>
          </a:xfrm>
          <a:prstGeom prst="line">
            <a:avLst/>
          </a:prstGeom>
          <a:noFill/>
          <a:ln w="12700">
            <a:solidFill>
              <a:srgbClr val="B7C5D1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794760" y="54406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100"/>
              <a:t>Illustrative business-level groupings of model inputs.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MODEL VALIDATION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200"/>
              <a:t>Model Validation Results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Key metrics and a confusion matrix provide a simple view of classification performance.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Accuracy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800"/>
              <a:t>XX%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377440" y="187452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3E6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Risk Recall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377440" y="22402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800"/>
              <a:t>XX%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023360" y="187452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Medium Risk Recall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023360" y="22402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800"/>
              <a:t>XX%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669280" y="187452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B67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Risk Recall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0" y="224028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800"/>
              <a:t>XX%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49808" y="2788920"/>
            <a:ext cx="6309360" cy="2560320"/>
          </a:xfrm>
          <a:prstGeom prst="roundRect">
            <a:avLst>
              <a:gd name="adj" fmla="val 2857"/>
            </a:avLst>
          </a:prstGeom>
          <a:solidFill>
            <a:srgbClr val="F9FBFC"/>
          </a:solidFill>
          <a:ln w="17780">
            <a:solidFill>
              <a:srgbClr val="9CB1C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sz="2000"/>
              <a:t>Confusion Matrix</a:t>
            </a:r>
            <a:endParaRPr lang="en-US" sz="1200" dirty="0"/>
          </a:p>
          <a:p>
            <a:pPr algn="ctr"/>
            <a:r>
              <a:rPr sz="2000"/>
              <a:t>or Validation Chart</a:t>
            </a:r>
          </a:p>
        </p:txBody>
      </p:sp>
      <p:sp>
        <p:nvSpPr>
          <p:cNvPr id="17" name="Text 15"/>
          <p:cNvSpPr/>
          <p:nvPr/>
        </p:nvSpPr>
        <p:spPr>
          <a:xfrm>
            <a:off x="7452360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300"/>
              <a:t>What to emphasize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452360" y="2148840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200"/>
              <a:t>High Risk recall is especially important for AML review.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452360" y="2148840"/>
            <a:ext cx="50292" cy="658368"/>
          </a:xfrm>
          <a:prstGeom prst="rect">
            <a:avLst/>
          </a:prstGeom>
          <a:solidFill>
            <a:srgbClr val="19A8A6"/>
          </a:solidFill>
          <a:ln w="12700">
            <a:solidFill>
              <a:srgbClr val="19A8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2990088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200"/>
              <a:t>Most correct predictions should appear along the diagonal.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52360" y="2990088"/>
            <a:ext cx="50292" cy="65836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831336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1430">
            <a:solidFill>
              <a:srgbClr val="DDE6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200"/>
              <a:t>Any confusion involving Medium Risk helps identify improvement areas.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452360" y="3831336"/>
            <a:ext cx="50292" cy="658368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48920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Detailed model statistics can be moved to the appendix if needed.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CURRENT POC DEMO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200"/>
              <a:t>Current POC Demo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The model already runs locally and can score an individual client end-to-end.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6537960" cy="3840480"/>
          </a:xfrm>
          <a:prstGeom prst="roundRect">
            <a:avLst>
              <a:gd name="adj" fmla="val 1905"/>
            </a:avLst>
          </a:prstGeom>
          <a:solidFill>
            <a:srgbClr val="F9FBFC"/>
          </a:solidFill>
          <a:ln w="17780">
            <a:solidFill>
              <a:srgbClr val="9CB1C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sz="1800"/>
              <a:t>Terminal Prediction Demo</a:t>
            </a:r>
            <a:endParaRPr lang="en-US" sz="1200" dirty="0"/>
          </a:p>
          <a:p>
            <a:pPr algn="ctr"/>
          </a:p>
          <a:p>
            <a:pPr algn="ctr"/>
            <a:r>
              <a:rPr sz="1800"/>
              <a:t>Client ID | class probabilities | final risk rating</a:t>
            </a:r>
          </a:p>
        </p:txBody>
      </p:sp>
      <p:sp>
        <p:nvSpPr>
          <p:cNvPr id="9" name="Text 7"/>
          <p:cNvSpPr/>
          <p:nvPr/>
        </p:nvSpPr>
        <p:spPr>
          <a:xfrm>
            <a:off x="7635240" y="1783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300"/>
              <a:t>What this demonstrates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635240" y="2240280"/>
            <a:ext cx="320040" cy="320040"/>
          </a:xfrm>
          <a:prstGeom prst="ellipse">
            <a:avLst/>
          </a:prstGeom>
          <a:solidFill>
            <a:srgbClr val="19A8A6"/>
          </a:solidFill>
          <a:ln>
            <a:solidFill>
              <a:srgbClr val="19A8A6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92440" y="225856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00"/>
              <a:t>The trained model loads and executes successfully.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635240" y="2852928"/>
            <a:ext cx="320040" cy="320040"/>
          </a:xfrm>
          <a:prstGeom prst="ellipse">
            <a:avLst/>
          </a:prstGeom>
          <a:solidFill>
            <a:srgbClr val="2F80ED"/>
          </a:solidFill>
          <a:ln>
            <a:solidFill>
              <a:srgbClr val="2F80ED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287121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00"/>
              <a:t>A sample client is scored across Low / Medium / High risk.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35240" y="3465576"/>
            <a:ext cx="320040" cy="320040"/>
          </a:xfrm>
          <a:prstGeom prst="ellipse">
            <a:avLst/>
          </a:prstGeom>
          <a:solidFill>
            <a:srgbClr val="E83E67"/>
          </a:solidFill>
          <a:ln>
            <a:solidFill>
              <a:srgbClr val="E83E67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92440" y="348386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200"/>
              <a:t>The same scoring logic can be exposed through an API or lightweight UI.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635240" y="4370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300"/>
              <a:t>Illustrative output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7635240" y="4663440"/>
            <a:ext cx="3337560" cy="868680"/>
          </a:xfrm>
          <a:prstGeom prst="roundRect">
            <a:avLst/>
          </a:prstGeom>
          <a:solidFill>
            <a:srgbClr val="08243A"/>
          </a:solidFill>
          <a:ln>
            <a:solidFill>
              <a:srgbClr val="08243A">
                <a:alpha val="0"/>
              </a:srgbClr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sz="1100"/>
              <a:t>AML Risk Scoring POC</a:t>
            </a:r>
            <a:endParaRPr lang="en-US" sz="780" dirty="0"/>
          </a:p>
          <a:p>
            <a:r>
              <a:rPr sz="1100"/>
              <a:t>Client: CLIENT_001</a:t>
            </a:r>
          </a:p>
          <a:p>
            <a:r>
              <a:rPr sz="1100"/>
              <a:t>LOW 5% | MEDIUM 17% | HIGH 78%</a:t>
            </a:r>
          </a:p>
          <a:p>
            <a:r>
              <a:rPr sz="1100"/>
              <a:t>Final Risk Rating: 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EXPLAINABILITY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100"/>
              <a:t>Why the Model Assigned the Risk Rating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Each prediction should be accompanied by the key factors driving the result.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6309360" cy="3749040"/>
          </a:xfrm>
          <a:prstGeom prst="roundRect">
            <a:avLst>
              <a:gd name="adj" fmla="val 1951"/>
            </a:avLst>
          </a:prstGeom>
          <a:solidFill>
            <a:srgbClr val="F9FBFC"/>
          </a:solidFill>
          <a:ln w="17780">
            <a:solidFill>
              <a:srgbClr val="9CB1C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ctr" indent="0" marL="0">
              <a:buNone/>
            </a:pPr>
            <a:r>
              <a:rPr sz="1800"/>
              <a:t>Risk Driver Visualization</a:t>
            </a:r>
            <a:endParaRPr lang="en-US" sz="1200" dirty="0"/>
          </a:p>
          <a:p>
            <a:pPr algn="ctr"/>
          </a:p>
          <a:p>
            <a:pPr algn="ctr"/>
            <a:r>
              <a:rPr sz="1800"/>
              <a:t>SHAP or Feature Importance View</a:t>
            </a:r>
          </a:p>
        </p:txBody>
      </p:sp>
      <p:sp>
        <p:nvSpPr>
          <p:cNvPr id="9" name="Text 7"/>
          <p:cNvSpPr/>
          <p:nvPr/>
        </p:nvSpPr>
        <p:spPr>
          <a:xfrm>
            <a:off x="7406640" y="17830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300"/>
              <a:t>Example drivers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7406640" y="22677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High-risk jurisdiction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06640" y="2514600"/>
            <a:ext cx="3200400" cy="7315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2514600"/>
            <a:ext cx="2971800" cy="73152"/>
          </a:xfrm>
          <a:prstGeom prst="rect">
            <a:avLst/>
          </a:prstGeom>
          <a:solidFill>
            <a:srgbClr val="E83E67"/>
          </a:solidFill>
          <a:ln w="12700">
            <a:solidFill>
              <a:srgbClr val="E83E6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8895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PEP / related indicator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06640" y="3136392"/>
            <a:ext cx="3200400" cy="7315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3136392"/>
            <a:ext cx="2606040" cy="73152"/>
          </a:xfrm>
          <a:prstGeom prst="rect">
            <a:avLst/>
          </a:prstGeom>
          <a:solidFill>
            <a:srgbClr val="E83E67"/>
          </a:solidFill>
          <a:ln w="12700">
            <a:solidFill>
              <a:srgbClr val="E83E6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351129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complexity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406640" y="3758184"/>
            <a:ext cx="3200400" cy="7315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3758184"/>
            <a:ext cx="2148840" cy="7315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4133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risk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406640" y="4379976"/>
            <a:ext cx="3200400" cy="7315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4379976"/>
            <a:ext cx="1600200" cy="73152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4754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B22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relationship tenure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406640" y="5001768"/>
            <a:ext cx="3200400" cy="73152"/>
          </a:xfrm>
          <a:prstGeom prst="rect">
            <a:avLst/>
          </a:prstGeom>
          <a:solidFill>
            <a:srgbClr val="E5EAF0"/>
          </a:solidFill>
          <a:ln w="12700">
            <a:solidFill>
              <a:srgbClr val="E5EAF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5001768"/>
            <a:ext cx="1051560" cy="73152"/>
          </a:xfrm>
          <a:prstGeom prst="rect">
            <a:avLst/>
          </a:prstGeom>
          <a:solidFill>
            <a:srgbClr val="2EB67D"/>
          </a:solidFill>
          <a:ln w="12700">
            <a:solidFill>
              <a:srgbClr val="2EB67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5440680"/>
            <a:ext cx="3520440" cy="420624"/>
          </a:xfrm>
          <a:prstGeom prst="roundRect">
            <a:avLst/>
          </a:prstGeom>
          <a:solidFill>
            <a:srgbClr val="EEF7FF"/>
          </a:solidFill>
          <a:ln w="8890">
            <a:solidFill>
              <a:srgbClr val="BCD7F3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sz="1100"/>
              <a:t>Leadership view: the goal is not only to assign a risk category, but also to show which factors push the prediction up or down.</a:t>
            </a:r>
            <a:endParaRPr lang="en-US" sz="8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NEXT STEPS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2200"/>
              <a:t>Recommended Next Steps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502920" y="103327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100"/>
              <a:t>The technical core is complete; the next step is packaging the POC for controlled business review.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02920" y="1444752"/>
            <a:ext cx="11155680" cy="0"/>
          </a:xfrm>
          <a:prstGeom prst="line">
            <a:avLst/>
          </a:prstGeom>
          <a:noFill/>
          <a:ln w="12700">
            <a:solidFill>
              <a:srgbClr val="DD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51052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AI-Driven AML Risk Scoring POC</a:t>
            </a:r>
            <a:endParaRPr lang="en-US" sz="680" dirty="0"/>
          </a:p>
        </p:txBody>
      </p:sp>
      <p:sp>
        <p:nvSpPr>
          <p:cNvPr id="7" name="Text 5"/>
          <p:cNvSpPr/>
          <p:nvPr/>
        </p:nvSpPr>
        <p:spPr>
          <a:xfrm>
            <a:off x="11384280" y="6510528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EA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sz="1200" b="1"/>
              <a:t>Data preparation</a:t>
            </a:r>
            <a:endParaRPr lang="en-US" sz="740" dirty="0"/>
          </a:p>
          <a:p>
            <a:r>
              <a:rPr sz="1200"/>
              <a:t>Complete</a:t>
            </a:r>
          </a:p>
        </p:txBody>
      </p:sp>
      <p:sp>
        <p:nvSpPr>
          <p:cNvPr id="9" name="Shape 7"/>
          <p:cNvSpPr/>
          <p:nvPr/>
        </p:nvSpPr>
        <p:spPr>
          <a:xfrm>
            <a:off x="566928" y="2624328"/>
            <a:ext cx="1417320" cy="45720"/>
          </a:xfrm>
          <a:prstGeom prst="rect">
            <a:avLst/>
          </a:prstGeom>
          <a:solidFill>
            <a:srgbClr val="2EB67D"/>
          </a:solidFill>
          <a:ln w="12700">
            <a:solidFill>
              <a:srgbClr val="2EB67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57984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sz="1200" b="1"/>
              <a:t>Model training</a:t>
            </a:r>
            <a:endParaRPr lang="en-US" sz="740" dirty="0"/>
          </a:p>
          <a:p>
            <a:r>
              <a:rPr sz="1200"/>
              <a:t>Complete</a:t>
            </a:r>
          </a:p>
        </p:txBody>
      </p:sp>
      <p:sp>
        <p:nvSpPr>
          <p:cNvPr id="11" name="Shape 9"/>
          <p:cNvSpPr/>
          <p:nvPr/>
        </p:nvSpPr>
        <p:spPr>
          <a:xfrm>
            <a:off x="2157984" y="2624328"/>
            <a:ext cx="1417320" cy="45720"/>
          </a:xfrm>
          <a:prstGeom prst="rect">
            <a:avLst/>
          </a:prstGeom>
          <a:solidFill>
            <a:srgbClr val="2EB67D"/>
          </a:solidFill>
          <a:ln w="12700">
            <a:solidFill>
              <a:srgbClr val="2EB67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sz="1200" b="1"/>
              <a:t>Local prediction demo</a:t>
            </a:r>
            <a:endParaRPr lang="en-US" sz="740" dirty="0"/>
          </a:p>
          <a:p>
            <a:r>
              <a:rPr sz="1200"/>
              <a:t>Complete</a:t>
            </a:r>
          </a:p>
        </p:txBody>
      </p:sp>
      <p:sp>
        <p:nvSpPr>
          <p:cNvPr id="13" name="Shape 11"/>
          <p:cNvSpPr/>
          <p:nvPr/>
        </p:nvSpPr>
        <p:spPr>
          <a:xfrm>
            <a:off x="3749040" y="2624328"/>
            <a:ext cx="1417320" cy="45720"/>
          </a:xfrm>
          <a:prstGeom prst="rect">
            <a:avLst/>
          </a:prstGeom>
          <a:solidFill>
            <a:srgbClr val="2EB67D"/>
          </a:solidFill>
          <a:ln w="12700">
            <a:solidFill>
              <a:srgbClr val="2EB67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0096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sz="1200" b="1"/>
              <a:t>Validation results</a:t>
            </a:r>
            <a:endParaRPr lang="en-US" sz="740" dirty="0"/>
          </a:p>
          <a:p>
            <a:r>
              <a:rPr sz="1200"/>
              <a:t>Finalize</a:t>
            </a:r>
          </a:p>
        </p:txBody>
      </p:sp>
      <p:sp>
        <p:nvSpPr>
          <p:cNvPr id="15" name="Shape 13"/>
          <p:cNvSpPr/>
          <p:nvPr/>
        </p:nvSpPr>
        <p:spPr>
          <a:xfrm>
            <a:off x="5340096" y="2624328"/>
            <a:ext cx="1417320" cy="45720"/>
          </a:xfrm>
          <a:prstGeom prst="rect">
            <a:avLst/>
          </a:prstGeom>
          <a:solidFill>
            <a:srgbClr val="FFB84D"/>
          </a:solidFill>
          <a:ln w="12700">
            <a:solidFill>
              <a:srgbClr val="FFB8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sz="1200" b="1"/>
              <a:t>Prediction API</a:t>
            </a:r>
            <a:endParaRPr lang="en-US" sz="740" dirty="0"/>
          </a:p>
          <a:p>
            <a:r>
              <a:rPr sz="1200"/>
              <a:t>Next</a:t>
            </a:r>
          </a:p>
        </p:txBody>
      </p:sp>
      <p:sp>
        <p:nvSpPr>
          <p:cNvPr id="17" name="Shape 15"/>
          <p:cNvSpPr/>
          <p:nvPr/>
        </p:nvSpPr>
        <p:spPr>
          <a:xfrm>
            <a:off x="6931152" y="2624328"/>
            <a:ext cx="141732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22208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sz="1200" b="1"/>
              <a:t>Demo UI</a:t>
            </a:r>
            <a:endParaRPr lang="en-US" sz="740" dirty="0"/>
          </a:p>
          <a:p>
            <a:r>
              <a:rPr sz="1200"/>
              <a:t>Next</a:t>
            </a:r>
          </a:p>
        </p:txBody>
      </p:sp>
      <p:sp>
        <p:nvSpPr>
          <p:cNvPr id="19" name="Shape 17"/>
          <p:cNvSpPr/>
          <p:nvPr/>
        </p:nvSpPr>
        <p:spPr>
          <a:xfrm>
            <a:off x="8522208" y="2624328"/>
            <a:ext cx="141732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13264" y="1874520"/>
            <a:ext cx="141732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DE6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sz="1200" b="1"/>
              <a:t>Controlled AML review</a:t>
            </a:r>
            <a:endParaRPr lang="en-US" sz="740" dirty="0"/>
          </a:p>
          <a:p>
            <a:r>
              <a:rPr sz="1200"/>
              <a:t>Next</a:t>
            </a:r>
          </a:p>
        </p:txBody>
      </p:sp>
      <p:sp>
        <p:nvSpPr>
          <p:cNvPr id="21" name="Shape 19"/>
          <p:cNvSpPr/>
          <p:nvPr/>
        </p:nvSpPr>
        <p:spPr>
          <a:xfrm>
            <a:off x="10113264" y="2624328"/>
            <a:ext cx="1417320" cy="457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767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sz="1300"/>
              <a:t>Recommended next step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520440"/>
            <a:ext cx="10561320" cy="1170432"/>
          </a:xfrm>
          <a:prstGeom prst="roundRect">
            <a:avLst>
              <a:gd name="adj" fmla="val 6250"/>
            </a:avLst>
          </a:prstGeom>
          <a:solidFill>
            <a:srgbClr val="08243A"/>
          </a:solidFill>
          <a:ln>
            <a:solidFill>
              <a:srgbClr val="08243A">
                <a:alpha val="0"/>
              </a:srgbClr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indent="0" marL="0">
              <a:buNone/>
            </a:pPr>
            <a:r>
              <a:rPr sz="1300"/>
              <a:t>Turn the trained local model into a controlled AML decision-support prototype with:</a:t>
            </a:r>
            <a:endParaRPr lang="en-US" sz="1120" dirty="0"/>
          </a:p>
          <a:p>
            <a:r>
              <a:rPr sz="1300"/>
              <a:t>• a prediction API</a:t>
            </a:r>
          </a:p>
          <a:p>
            <a:r>
              <a:rPr sz="1300"/>
              <a:t>• demo screenshots or a simple UI</a:t>
            </a:r>
          </a:p>
          <a:p>
            <a:r>
              <a:rPr sz="1300"/>
              <a:t>• a small validation package using anonymized sample cases</a:t>
            </a:r>
          </a:p>
        </p:txBody>
      </p:sp>
      <p:sp>
        <p:nvSpPr>
          <p:cNvPr id="24" name="Text 22"/>
          <p:cNvSpPr/>
          <p:nvPr/>
        </p:nvSpPr>
        <p:spPr>
          <a:xfrm>
            <a:off x="914400" y="55321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100"/>
              <a:t>Decision point: confirm whether leadership would like to continue from local POC to a lightweight API/demo prototype.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AML Risk Scoring POC</dc:title>
  <dc:subject>AI-driven AML risk scoring POC leadership deck</dc:subject>
  <dc:creator>OpenAI</dc:creator>
  <cp:lastModifiedBy>OpenAI</cp:lastModifiedBy>
  <cp:revision>1</cp:revision>
  <dcterms:created xsi:type="dcterms:W3CDTF">2026-08-24T14:17:35Z</dcterms:created>
  <dcterms:modified xsi:type="dcterms:W3CDTF">2026-08-24T14:17:35Z</dcterms:modified>
</cp:coreProperties>
</file>