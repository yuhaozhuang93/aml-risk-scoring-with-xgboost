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讲这页时强调：今天不是展示代码，而是展示一个可以被业务理解的 AML Risk Scoring POC。核心是：我们用历史数据训练模型，输出 Low / Medium / High 风险，并且后续可以解释每个预测结果。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这页要讲：领导最关心的不是训练细节，而是我们已经证明了什么、它对业务有什么用、下一步需要什么支持。强调这不是自动替代人工决策，而是 decision support。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这页讲业务问题：历史数据里其实已经包含风险判断经验，但如果只靠人工和规则，很难规模化复用。模型的价值是把这些历史 pattern 变成一个可重复、可解释的 risk scoring capability。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这一页只讲概念，不讲代码。可以说：我们不是让 AI 随便判断，而是用已有历史 risk label 训练 supervised model。输入是客户数据，输出是 Low / Medium / High 的风险预测。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这页回答领导的问题：模型到底看什么？不要列 40 个字段，分成 4 类讲。最后强调：模型不是看单一指标，而是综合多个风险维度。你可以把这里的字段替换成你真实数据里的字段类别。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这页是最关键的模型效果页。你要把真实 accuracy、各 label recall、confusion matrix 填进去。讲的时候重点不要只说 overall accuracy，要强调 High Risk recall，因为 AML 场景漏掉高风险客户通常是最敏感的。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这页要讲 explainability。AML 场景领导很可能担心 black box。你可以说：模型不只是给 High/Medium/Low，还可以用 SHAP 或 feature importance 解释主要风险驱动因素。这里的例子要替换成你真实模型的一条 anonymized sample。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这页非常重要：不要让领导误解成 AI 自动做 AML decision。你要明确说 AI 是 decision support，帮助分析师优先级排序、展示风险驱动因素，最终 decision 仍然由 analyst / policy / control process 来完成。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最后一页要落到 request：你不是只说模型训练完成，而是建议进入下一阶段。具体是：把模型、preprocessing pipeline、prediction API、explainability 和 sample workflow 放到一起，形成可演示的 AML POC。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这页作为 appendix。只有领导问到 how exactly did you build it 的时候再讲。主线不要陷入代码细节。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1440"/>
            <a:ext cx="4526280" cy="4526280"/>
          </a:xfrm>
          <a:prstGeom prst="arc">
            <a:avLst/>
          </a:prstGeom>
          <a:solidFill>
            <a:srgbClr val="12314B">
              <a:alpha val="0"/>
            </a:srgbClr>
          </a:solidFill>
          <a:ln w="228600">
            <a:solidFill>
              <a:srgbClr val="1BA6A6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685800"/>
            <a:ext cx="3108960" cy="3108960"/>
          </a:xfrm>
          <a:prstGeom prst="arc">
            <a:avLst/>
          </a:prstGeom>
          <a:solidFill>
            <a:srgbClr val="12314B">
              <a:alpha val="0"/>
            </a:srgbClr>
          </a:solidFill>
          <a:ln w="152400">
            <a:solidFill>
              <a:srgbClr val="1F6FEB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6012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Building an AI-Driven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AML Risk Scoring POC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3F0"/>
                </a:solidFill>
              </a:rPr>
              <a:t>Using historical internal data to predict Low / Medium / High AML risk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035808"/>
            <a:ext cx="4663440" cy="0"/>
          </a:xfrm>
          <a:prstGeom prst="line">
            <a:avLst/>
          </a:prstGeom>
          <a:noFill/>
          <a:ln w="27940">
            <a:solidFill>
              <a:srgbClr val="1B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40690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173A59"/>
          </a:solidFill>
          <a:ln w="12700">
            <a:solidFill>
              <a:srgbClr val="2E58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178808"/>
            <a:ext cx="1536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97480" y="4425696"/>
            <a:ext cx="704088" cy="0"/>
          </a:xfrm>
          <a:prstGeom prst="line">
            <a:avLst/>
          </a:prstGeom>
          <a:noFill/>
          <a:ln w="17780">
            <a:solidFill>
              <a:srgbClr val="A8C7E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47872" y="40690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173A59"/>
          </a:solidFill>
          <a:ln w="12700">
            <a:solidFill>
              <a:srgbClr val="2E58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4178808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67528" y="4425696"/>
            <a:ext cx="722376" cy="0"/>
          </a:xfrm>
          <a:prstGeom prst="line">
            <a:avLst/>
          </a:prstGeom>
          <a:noFill/>
          <a:ln w="17780">
            <a:solidFill>
              <a:srgbClr val="A8C7E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6208" y="4069080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4178808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51776" y="406908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178808"/>
            <a:ext cx="877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31936" y="4069080"/>
            <a:ext cx="1005840" cy="713232"/>
          </a:xfrm>
          <a:prstGeom prst="roundRect">
            <a:avLst>
              <a:gd name="adj" fmla="val 10256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4178808"/>
            <a:ext cx="713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1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6327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6CE"/>
                </a:solidFill>
              </a:rPr>
              <a:t>Executive review deck  •  Draft for customization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MANAGEMENT MESSAGE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Executive takeaway: a model is now trained; the next question is how to operationalize it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239"/>
                </a:solidFill>
              </a:rPr>
              <a:t>This POC shows that historical AML/KYC data can be converted into a repeatable, explainable risk-scoring capability.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331720"/>
            <a:ext cx="55778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331720"/>
            <a:ext cx="73152" cy="786384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468880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788920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A multi-class model that predicts client AML risk as Low / Medium / High.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319272"/>
            <a:ext cx="55778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319272"/>
            <a:ext cx="73152" cy="786384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56432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776472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It can help prioritize review, improve consistency, and surface key risk drivers.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306824"/>
            <a:ext cx="55778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443984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What is next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764024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Package the model into a prediction API and test it in an analyst-facing workflow.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2194560"/>
            <a:ext cx="4343400" cy="2606040"/>
          </a:xfrm>
          <a:prstGeom prst="roundRect">
            <a:avLst>
              <a:gd name="adj" fmla="val 4211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Leadership decision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3063240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Move from model-only POC to a controlled AML decision-support prototype.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269480" y="4187952"/>
            <a:ext cx="3520440" cy="347472"/>
          </a:xfrm>
          <a:prstGeom prst="roundRect">
            <a:avLst>
              <a:gd name="adj" fmla="val 52632"/>
            </a:avLst>
          </a:prstGeom>
          <a:solidFill>
            <a:srgbClr val="D9F99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42336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5314"/>
                </a:solidFill>
              </a:rPr>
              <a:t>Decision support — not automated decisioning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" y="5806440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Recommended ask: approve next-step packaging, explainability view, and controlled testing with sample cases.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BUSINESS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The opportunity: turn historical risk decisions into a repeatable scoring capability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</a:rPr>
              <a:t>Current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Historical AML decisions are valuable, but the patterns are difficult to reuse consistently at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944368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944368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08152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Manual / rules-heavy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40156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Dependent on available data, rule coverage, and case-by-case interpretation.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3337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0520"/>
            <a:ext cx="73152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9768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Limited pattern reuse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61772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Difficult to systematically learn from prior labeled cases.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401568"/>
            <a:ext cx="1188720" cy="0"/>
          </a:xfrm>
          <a:prstGeom prst="line">
            <a:avLst/>
          </a:prstGeom>
          <a:noFill/>
          <a:ln w="254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01768" y="3063240"/>
            <a:ext cx="493776" cy="694944"/>
          </a:xfrm>
          <a:prstGeom prst="hexagon">
            <a:avLst/>
          </a:prstGeom>
          <a:solidFill>
            <a:srgbClr val="FFFFFF"/>
          </a:solidFill>
          <a:ln w="12700">
            <a:solidFill>
              <a:srgbClr val="CED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1729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25312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</a:rPr>
              <a:t>POC capability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25312" y="190195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A trained model can learn from historical outcomes and generate consistent risk predictions on new cases.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25312" y="2944368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5312" y="2944368"/>
            <a:ext cx="73152" cy="96012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08152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Learned risk patterns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40156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Model learns from prior Low / Medium / High outcomes.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25312" y="416052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5312" y="4160520"/>
            <a:ext cx="73152" cy="96012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297680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Explainable recommendation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46177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Output includes rating, confidence, and key risk drivers.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40112" y="2542032"/>
            <a:ext cx="1600200" cy="2194560"/>
          </a:xfrm>
          <a:prstGeom prst="roundRect">
            <a:avLst>
              <a:gd name="adj" fmla="val 6857"/>
            </a:avLst>
          </a:prstGeom>
          <a:solidFill>
            <a:srgbClr val="E6F7F7"/>
          </a:solidFill>
          <a:ln w="12700">
            <a:solidFill>
              <a:srgbClr val="B6E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28163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Business impact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10195560" y="3273552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Prioritize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Review</a:t>
            </a:r>
            <a:endParaRPr lang="en-US" sz="980" dirty="0"/>
          </a:p>
          <a:p>
            <a:pPr algn="ctr" indent="0" marL="0">
              <a:buNone/>
            </a:pP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Improve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Consistency</a:t>
            </a:r>
            <a:endParaRPr lang="en-US" sz="980" dirty="0"/>
          </a:p>
          <a:p>
            <a:pPr algn="ctr" indent="0" marL="0">
              <a:buNone/>
            </a:pP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Support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0B2239"/>
                </a:solidFill>
              </a:rPr>
              <a:t>Explainability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MODEL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How the POC works: historical data in, risk prediction out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202996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331720"/>
            <a:ext cx="73152" cy="1261872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46888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Historical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Client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2788920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KYC, AML, client profile, geography, relationship attributes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2962656"/>
            <a:ext cx="146304" cy="0"/>
          </a:xfrm>
          <a:prstGeom prst="line">
            <a:avLst/>
          </a:prstGeom>
          <a:noFill/>
          <a:ln w="1905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62656" y="2331720"/>
            <a:ext cx="202996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62656" y="2331720"/>
            <a:ext cx="73152" cy="1261872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246888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Feature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Preparation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63824" y="2788920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Clean, encode, align data into model-ready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47488" y="2962656"/>
            <a:ext cx="146304" cy="0"/>
          </a:xfrm>
          <a:prstGeom prst="line">
            <a:avLst/>
          </a:prstGeom>
          <a:noFill/>
          <a:ln w="1905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66944" y="2331720"/>
            <a:ext cx="202996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66944" y="2331720"/>
            <a:ext cx="7315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246888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Historical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Risk Labels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788920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Known Low / Medium / High outcomes used for supervised learning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51776" y="2962656"/>
            <a:ext cx="146304" cy="0"/>
          </a:xfrm>
          <a:prstGeom prst="line">
            <a:avLst/>
          </a:prstGeom>
          <a:noFill/>
          <a:ln w="1905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71232" y="2331720"/>
            <a:ext cx="202996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2331720"/>
            <a:ext cx="73152" cy="1261872"/>
          </a:xfrm>
          <a:prstGeom prst="rect">
            <a:avLst/>
          </a:prstGeom>
          <a:solidFill>
            <a:srgbClr val="1231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246888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Machine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Learning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2788920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Learns patterns linked to historical risk outcomes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56064" y="2962656"/>
            <a:ext cx="146304" cy="0"/>
          </a:xfrm>
          <a:prstGeom prst="line">
            <a:avLst/>
          </a:prstGeom>
          <a:noFill/>
          <a:ln w="1905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75520" y="2331720"/>
            <a:ext cx="2029968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75520" y="2331720"/>
            <a:ext cx="73152" cy="1261872"/>
          </a:xfrm>
          <a:prstGeom prst="rect">
            <a:avLst/>
          </a:prstGeom>
          <a:solidFill>
            <a:srgbClr val="22A0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76688" y="246888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Prediction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76688" y="2788920"/>
            <a:ext cx="1700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Outputs Low / Medium / High plus confidence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4400" y="4800600"/>
            <a:ext cx="10195560" cy="786384"/>
          </a:xfrm>
          <a:prstGeom prst="roundRect">
            <a:avLst>
              <a:gd name="adj" fmla="val 9302"/>
            </a:avLst>
          </a:prstGeom>
          <a:solidFill>
            <a:srgbClr val="EEF6FF"/>
          </a:solidFill>
          <a:ln w="12700">
            <a:solidFill>
              <a:srgbClr val="C8D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4974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</a:rPr>
              <a:t>Simple explanation for leadership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11880" y="491947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239"/>
                </a:solidFill>
              </a:rPr>
              <a:t>The model learns from past cases where the final AML risk rating is already known, then applies those learned patterns to new client records.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INPUT FEATURES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The model combines multiple risk dimensions, not a single indicator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45152" y="2331720"/>
            <a:ext cx="2834640" cy="1298448"/>
          </a:xfrm>
          <a:prstGeom prst="roundRect">
            <a:avLst>
              <a:gd name="adj" fmla="val 9859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6609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ML Risk Model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65776" y="30632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9D7F2"/>
                </a:solidFill>
              </a:rPr>
              <a:t>learns risk patterns across dimensions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" y="16002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17647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Customer Profile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21305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Customer type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Legal entity type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Client segment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7240" y="379476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E6F7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9593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6A6"/>
                </a:solidFill>
              </a:rPr>
              <a:t>Geographic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4325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Country of incorporation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Country of operation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High-risk jurisdiction flag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065008" y="16002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FE7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17647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KYC / AML Factors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6176" y="21305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PEP indicator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Sanctions-related indicators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Ownership complexity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065008" y="379476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39593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Relationship / Activity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6176" y="4325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Product type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Relationship type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B6B7A"/>
                </a:solidFill>
              </a:rPr>
              <a:t>Activity indicators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987552" y="58704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i="1" dirty="0">
                <a:solidFill>
                  <a:srgbClr val="7B8794"/>
                </a:solidFill>
              </a:rPr>
              <a:t>Replace these feature groups with your actual field categories before presenting.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MODEL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Initial model validation: focus on correct classification by risk category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44475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1609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6FEB"/>
                </a:solidFill>
              </a:rPr>
              <a:t>[  % ]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68680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Overall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44475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1609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1D48"/>
                </a:solidFill>
              </a:rPr>
              <a:t>[  % ]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108960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High-Risk 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44475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609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</a:rPr>
              <a:t>[  % ]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349240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Medium-Risk Recall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44475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1609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A06B"/>
                </a:solidFill>
              </a:rPr>
              <a:t>[  % ]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589520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Low-Risk Recall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84080" y="1444752"/>
            <a:ext cx="1691640" cy="1115568"/>
          </a:xfrm>
          <a:prstGeom prst="roundRect">
            <a:avLst>
              <a:gd name="adj" fmla="val 6557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03536" y="17190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Replace with your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actual results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289864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</a:rPr>
              <a:t>Confusion Matrix Heatmap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2369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Rows = actual historical risk rating; columns = model prediction.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30552" y="3712464"/>
            <a:ext cx="29626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A"/>
                </a:solidFill>
              </a:rPr>
              <a:t>Predicted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30552" y="3986784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A"/>
                </a:solidFill>
              </a:rPr>
              <a:t>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18104" y="3986784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A"/>
                </a:solidFill>
              </a:rPr>
              <a:t>Medium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05656" y="3986784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A"/>
                </a:solidFill>
              </a:rPr>
              <a:t>High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 rot="16200000">
            <a:off x="429768" y="50840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A"/>
                </a:solidFill>
              </a:rPr>
              <a:t>Actual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" y="43799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5B6B7A"/>
                </a:solidFill>
              </a:rPr>
              <a:t>Low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21208" y="48828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5B6B7A"/>
                </a:solidFill>
              </a:rPr>
              <a:t>Medium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21208" y="5385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5B6B7A"/>
                </a:solidFill>
              </a:rPr>
              <a:t>High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130552" y="4242816"/>
            <a:ext cx="987552" cy="502920"/>
          </a:xfrm>
          <a:prstGeom prst="rect">
            <a:avLst/>
          </a:prstGeom>
          <a:solidFill>
            <a:srgbClr val="A7F3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0552" y="43799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18104" y="4242816"/>
            <a:ext cx="987552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18104" y="43799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05656" y="4242816"/>
            <a:ext cx="98755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05656" y="43799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30552" y="4745736"/>
            <a:ext cx="987552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0552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18104" y="4745736"/>
            <a:ext cx="987552" cy="502920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18104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05656" y="4745736"/>
            <a:ext cx="98755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05656" y="48828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30552" y="5248656"/>
            <a:ext cx="987552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30552" y="53858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118104" y="5248656"/>
            <a:ext cx="987552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18104" y="53858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05656" y="5248656"/>
            <a:ext cx="987552" cy="502920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05656" y="53858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[ ]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04672" y="6016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Desired pattern: stronger color on diagonal = correct predictions.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29400" y="2999232"/>
            <a:ext cx="443484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037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239"/>
                </a:solidFill>
              </a:rPr>
              <a:t>How to explain this slide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03720" y="37307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• “High-risk recall” is the most important operating metric.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• Review whether Medium/High confusion is acceptable.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• Use class-level metrics instead of only overall accuracy.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94576" y="4718304"/>
            <a:ext cx="3566160" cy="320040"/>
          </a:xfrm>
          <a:prstGeom prst="roundRect">
            <a:avLst>
              <a:gd name="adj" fmla="val 57143"/>
            </a:avLst>
          </a:prstGeom>
          <a:solidFill>
            <a:srgbClr val="EAF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4764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Insert your actual heatmap export here if available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RISK DRIVERS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Explainability: each prediction should come with “why”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6384" y="1508760"/>
            <a:ext cx="3794760" cy="4114800"/>
          </a:xfrm>
          <a:prstGeom prst="roundRect">
            <a:avLst>
              <a:gd name="adj" fmla="val 2892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Sample client prediction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322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7F2"/>
                </a:solidFill>
              </a:rPr>
              <a:t>Client ID: [Anonymized]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A4AF"/>
                </a:solidFill>
              </a:rPr>
              <a:t>HIGH RISK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97280" y="3456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Confidence: [  %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41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7F2"/>
                </a:solidFill>
              </a:rPr>
              <a:t>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47088" y="4078224"/>
            <a:ext cx="1417320" cy="109728"/>
          </a:xfrm>
          <a:prstGeom prst="rect">
            <a:avLst/>
          </a:prstGeom>
          <a:solidFill>
            <a:srgbClr val="385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47088" y="4078224"/>
            <a:ext cx="640080" cy="109728"/>
          </a:xfrm>
          <a:prstGeom prst="rect">
            <a:avLst/>
          </a:prstGeom>
          <a:solidFill>
            <a:srgbClr val="22A0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4041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[  % 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7F2"/>
                </a:solidFill>
              </a:rPr>
              <a:t>Medium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47088" y="4471416"/>
            <a:ext cx="1417320" cy="109728"/>
          </a:xfrm>
          <a:prstGeom prst="rect">
            <a:avLst/>
          </a:prstGeom>
          <a:solidFill>
            <a:srgbClr val="385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47088" y="4471416"/>
            <a:ext cx="9144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[  %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7280" y="4828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7F2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47088" y="4864608"/>
            <a:ext cx="1417320" cy="109728"/>
          </a:xfrm>
          <a:prstGeom prst="rect">
            <a:avLst/>
          </a:prstGeom>
          <a:solidFill>
            <a:srgbClr val="385B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47088" y="4864608"/>
            <a:ext cx="132588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[  % 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157276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239"/>
                </a:solidFill>
              </a:rPr>
              <a:t>Top drivers behind the prediction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1920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Use SHAP / feature importance to show why the model assigned this rating.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263347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High-risk jurisdiction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360920" y="2660904"/>
            <a:ext cx="3657600" cy="146304"/>
          </a:xfrm>
          <a:prstGeom prst="rect">
            <a:avLst/>
          </a:prstGeom>
          <a:solidFill>
            <a:srgbClr val="E6EB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2660904"/>
            <a:ext cx="3840480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12724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PEP / related indicator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360920" y="3154680"/>
            <a:ext cx="3657600" cy="146304"/>
          </a:xfrm>
          <a:prstGeom prst="rect">
            <a:avLst/>
          </a:prstGeom>
          <a:solidFill>
            <a:srgbClr val="E6EB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3154680"/>
            <a:ext cx="3108960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62102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Complex ownership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360920" y="3648456"/>
            <a:ext cx="3657600" cy="146304"/>
          </a:xfrm>
          <a:prstGeom prst="rect">
            <a:avLst/>
          </a:prstGeom>
          <a:solidFill>
            <a:srgbClr val="E6EB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3648456"/>
            <a:ext cx="246888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114800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Industry risk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360920" y="4142232"/>
            <a:ext cx="3657600" cy="146304"/>
          </a:xfrm>
          <a:prstGeom prst="rect">
            <a:avLst/>
          </a:prstGeom>
          <a:solidFill>
            <a:srgbClr val="E6EB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4142232"/>
            <a:ext cx="1920240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460857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Long relationship tenure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360920" y="4636008"/>
            <a:ext cx="3657600" cy="146304"/>
          </a:xfrm>
          <a:prstGeom prst="rect">
            <a:avLst/>
          </a:prstGeom>
          <a:solidFill>
            <a:srgbClr val="E6EB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4636008"/>
            <a:ext cx="1097280" cy="146304"/>
          </a:xfrm>
          <a:prstGeom prst="rect">
            <a:avLst/>
          </a:prstGeom>
          <a:solidFill>
            <a:srgbClr val="22A0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521208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EEF6FF"/>
          </a:solidFill>
          <a:ln w="12700">
            <a:solidFill>
              <a:srgbClr val="C8DA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53766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239"/>
                </a:solidFill>
              </a:rPr>
              <a:t>Key message: the model should not only predict risk — it should explain the drivers behind the recommendation.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WORKFLOW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Target operating model: AI supports analysts; analysts own the final decision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</a:rPr>
              <a:t>Current review flow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1965960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965960"/>
            <a:ext cx="73152" cy="786384"/>
          </a:xfrm>
          <a:prstGeom prst="rect">
            <a:avLst/>
          </a:prstGeom>
          <a:solidFill>
            <a:srgbClr val="5B6B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10312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Client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4231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Data collected from onboarding / KYC sources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6352" y="2359152"/>
            <a:ext cx="585216" cy="0"/>
          </a:xfrm>
          <a:prstGeom prst="line">
            <a:avLst/>
          </a:prstGeom>
          <a:noFill/>
          <a:ln w="1524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93008" y="1965960"/>
            <a:ext cx="22402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3008" y="1965960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103120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Rules / manual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94176" y="242316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Manual interpretation and existing risk logic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2359152"/>
            <a:ext cx="594360" cy="0"/>
          </a:xfrm>
          <a:prstGeom prst="line">
            <a:avLst/>
          </a:prstGeom>
          <a:noFill/>
          <a:ln w="1524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1965960"/>
            <a:ext cx="21488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965960"/>
            <a:ext cx="73152" cy="786384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103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93408" y="242316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Final outcome prepared for review workflow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246120"/>
            <a:ext cx="1065276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239"/>
                </a:solidFill>
              </a:rPr>
              <a:t>AI-assisted decision-support flow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4050792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050792"/>
            <a:ext cx="73152" cy="786384"/>
          </a:xfrm>
          <a:prstGeom prst="rect">
            <a:avLst/>
          </a:prstGeom>
          <a:solidFill>
            <a:srgbClr val="5B6B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18795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Client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" y="45079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Same source data and same controls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24912" y="4443984"/>
            <a:ext cx="457200" cy="0"/>
          </a:xfrm>
          <a:prstGeom prst="line">
            <a:avLst/>
          </a:prstGeom>
          <a:noFill/>
          <a:ln w="1524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73552" y="4050792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73552" y="4050792"/>
            <a:ext cx="73152" cy="786384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8795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ML risk model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45079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Predicts Low / Medium / High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75504" y="4443984"/>
            <a:ext cx="457200" cy="0"/>
          </a:xfrm>
          <a:prstGeom prst="line">
            <a:avLst/>
          </a:prstGeom>
          <a:noFill/>
          <a:ln w="1524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24144" y="4050792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24144" y="4050792"/>
            <a:ext cx="73152" cy="786384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418795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Risk drivers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25312" y="45079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Shows confidence and explanation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626096" y="4443984"/>
            <a:ext cx="457200" cy="0"/>
          </a:xfrm>
          <a:prstGeom prst="line">
            <a:avLst/>
          </a:prstGeom>
          <a:noFill/>
          <a:ln w="1524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74736" y="4050792"/>
            <a:ext cx="20574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74736" y="4050792"/>
            <a:ext cx="73152" cy="786384"/>
          </a:xfrm>
          <a:prstGeom prst="rect">
            <a:avLst/>
          </a:prstGeom>
          <a:solidFill>
            <a:srgbClr val="22A0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5904" y="418795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Analyst decision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75904" y="4507992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Human review and final disposition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966960" y="1783080"/>
            <a:ext cx="1481328" cy="1325880"/>
          </a:xfrm>
          <a:prstGeom prst="roundRect">
            <a:avLst>
              <a:gd name="adj" fmla="val 6897"/>
            </a:avLst>
          </a:prstGeom>
          <a:solidFill>
            <a:srgbClr val="FFF4DE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68128" y="19842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Positioning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5560" y="2395728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</a:rPr>
              <a:t>Decision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</a:rPr>
              <a:t>support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2239"/>
                </a:solidFill>
              </a:rPr>
              <a:t>only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874520" y="5806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</a:rPr>
              <a:t>Not a replacement for analyst judgment, policy, or required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ROADMAP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POC progress and recommended next steps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Preparation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Completed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39696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04288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5728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Completed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22776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14216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Training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69080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Completed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76672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41264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32704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87568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CFC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Completed / Refine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95160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59752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51192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Explainability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View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06056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FEF3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06056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In progress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13648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78240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69680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API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24544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24544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Next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232136" y="2624328"/>
            <a:ext cx="109728" cy="0"/>
          </a:xfrm>
          <a:prstGeom prst="line">
            <a:avLst/>
          </a:prstGeom>
          <a:noFill/>
          <a:ln w="1397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396728" y="2057400"/>
            <a:ext cx="141732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488168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Workflow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239"/>
                </a:solidFill>
              </a:rPr>
              <a:t>Prototype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543032" y="2816352"/>
            <a:ext cx="1124712" cy="256032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43032" y="2862072"/>
            <a:ext cx="1124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Next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1560" y="4160520"/>
            <a:ext cx="9966960" cy="1234440"/>
          </a:xfrm>
          <a:prstGeom prst="roundRect">
            <a:avLst>
              <a:gd name="adj" fmla="val 7407"/>
            </a:avLst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89888" y="4443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7F2"/>
                </a:solidFill>
              </a:rPr>
              <a:t>Recommended next step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89888" y="4791456"/>
            <a:ext cx="9006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Turn the trained model into a controlled AML decision-support prototype with a prediction API, explainability output, and sample-case review workflow.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051560" y="5733288"/>
            <a:ext cx="256032" cy="256032"/>
          </a:xfrm>
          <a:prstGeom prst="ellipse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57744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99032" y="5751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Finalize metrics &amp; validation set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3538728" y="5733288"/>
            <a:ext cx="256032" cy="256032"/>
          </a:xfrm>
          <a:prstGeom prst="ellipse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38728" y="57744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886200" y="5751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Package model + preprocessing pipeline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6025896" y="5733288"/>
            <a:ext cx="256032" cy="256032"/>
          </a:xfrm>
          <a:prstGeom prst="ellipse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25896" y="57744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73368" y="5751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Build prediction API / demo screen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8513064" y="5733288"/>
            <a:ext cx="256032" cy="256032"/>
          </a:xfrm>
          <a:prstGeom prst="ellipse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13064" y="577443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860536" y="5751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A"/>
                </a:solidFill>
              </a:rPr>
              <a:t>Review sample output with stakeholders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108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TECHNICAL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239"/>
                </a:solidFill>
              </a:rPr>
              <a:t>Appendix: technical pipeline behind the POC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10972800" cy="0"/>
          </a:xfrm>
          <a:prstGeom prst="line">
            <a:avLst/>
          </a:prstGeom>
          <a:noFill/>
          <a:ln w="7620">
            <a:solidFill>
              <a:srgbClr val="CED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</a:rPr>
              <a:t>Use only if leadership asks how the model was built.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874520"/>
            <a:ext cx="73152" cy="82296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01168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Raw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23317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Internal historical client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228600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187452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1874520"/>
            <a:ext cx="73152" cy="82296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201168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67328" y="23317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Missing values, category cleanup, label alignment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61888" y="228600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187452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874520"/>
            <a:ext cx="73152" cy="82296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01168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56248" y="23317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Risk-relevant fields and derived features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750808" y="228600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187452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0" y="1874520"/>
            <a:ext cx="73152" cy="822960"/>
          </a:xfrm>
          <a:prstGeom prst="rect">
            <a:avLst/>
          </a:prstGeom>
          <a:solidFill>
            <a:srgbClr val="1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201168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Preprocessing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45168" y="233172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Encode categorical data, scale / transform if needed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338328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3383280"/>
            <a:ext cx="73152" cy="82296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352044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8408" y="384048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Holdout set for validation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72968" y="379476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566160" y="338328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66160" y="3383280"/>
            <a:ext cx="73152" cy="82296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352044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XGBoost Multi-Class Model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67328" y="384048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Predict Low / Medium / High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61888" y="379476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55080" y="338328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3383280"/>
            <a:ext cx="73152" cy="82296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352044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56248" y="384048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Accuracy, precision, recall, F1, confusion matrix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50808" y="3794760"/>
            <a:ext cx="329184" cy="0"/>
          </a:xfrm>
          <a:prstGeom prst="line">
            <a:avLst/>
          </a:prstGeom>
          <a:noFill/>
          <a:ln w="12700">
            <a:solidFill>
              <a:srgbClr val="CED7E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44000" y="338328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144000" y="3383280"/>
            <a:ext cx="73152" cy="822960"/>
          </a:xfrm>
          <a:prstGeom prst="rect">
            <a:avLst/>
          </a:prstGeom>
          <a:solidFill>
            <a:srgbClr val="1F6F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45168" y="352044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239"/>
                </a:solidFill>
              </a:rPr>
              <a:t>Model Package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345168" y="384048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</a:rPr>
              <a:t>Saved pipeline + model for prediction API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60120" y="54864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E6F7F7"/>
          </a:solidFill>
          <a:ln w="12700">
            <a:solidFill>
              <a:srgbClr val="B6E6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7008" y="5650992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Keep detailed code, feature list, and validation tables in appendix / backup — not in the main leadership storyline.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AI-Driven AML Risk Scoring POC</dc:title>
  <dc:subject>AI-Driven AML Risk Scoring POC</dc:subject>
  <dc:creator>OpenAI</dc:creator>
  <cp:lastModifiedBy>OpenAI</cp:lastModifiedBy>
  <cp:revision>1</cp:revision>
  <dcterms:created xsi:type="dcterms:W3CDTF">2026-08-19T16:31:37Z</dcterms:created>
  <dcterms:modified xsi:type="dcterms:W3CDTF">2026-08-19T16:31:37Z</dcterms:modified>
</cp:coreProperties>
</file>