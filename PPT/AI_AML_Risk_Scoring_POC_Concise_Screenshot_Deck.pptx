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41248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an AI-Driven</a:t>
            </a:r>
            <a:endParaRPr lang="en-US" sz="2750" dirty="0"/>
          </a:p>
          <a:p>
            <a:pPr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AML Risk Scoring POC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04088" y="19019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historical internal data to predict Low / Medium / High AML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86384" y="3822192"/>
            <a:ext cx="1325880" cy="502920"/>
          </a:xfrm>
          <a:prstGeom prst="roundRect">
            <a:avLst/>
          </a:prstGeom>
          <a:solidFill>
            <a:srgbClr val="0D304C"/>
          </a:solidFill>
          <a:ln w="12700">
            <a:solidFill>
              <a:srgbClr val="24506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Data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2148840" y="4078224"/>
            <a:ext cx="530352" cy="0"/>
          </a:xfrm>
          <a:prstGeom prst="line">
            <a:avLst/>
          </a:prstGeom>
          <a:noFill/>
          <a:ln w="13970">
            <a:solidFill>
              <a:srgbClr val="6EA5C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743200" y="3822192"/>
            <a:ext cx="1325880" cy="502920"/>
          </a:xfrm>
          <a:prstGeom prst="roundRect">
            <a:avLst/>
          </a:prstGeom>
          <a:solidFill>
            <a:srgbClr val="0D304C"/>
          </a:solidFill>
          <a:ln w="12700">
            <a:solidFill>
              <a:srgbClr val="24506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Risk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114800" y="4078224"/>
            <a:ext cx="530352" cy="0"/>
          </a:xfrm>
          <a:prstGeom prst="line">
            <a:avLst/>
          </a:prstGeom>
          <a:noFill/>
          <a:ln w="13970">
            <a:solidFill>
              <a:srgbClr val="6EA5C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00600" y="3895344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D9F3E9"/>
          </a:solidFill>
          <a:ln>
            <a:solidFill>
              <a:srgbClr val="D9F3E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32704" y="3895344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1CA"/>
          </a:solidFill>
          <a:ln>
            <a:solidFill>
              <a:srgbClr val="FFF1C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638544" y="389534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FD8DE"/>
          </a:solidFill>
          <a:ln>
            <a:solidFill>
              <a:srgbClr val="FFD8D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13232" y="61996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6A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review deck  |  Draft for customization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9326880" y="164592"/>
            <a:ext cx="2148840" cy="2148840"/>
          </a:xfrm>
          <a:prstGeom prst="arc">
            <a:avLst/>
          </a:prstGeom>
          <a:noFill/>
          <a:ln w="38100">
            <a:solidFill>
              <a:srgbClr val="19A8A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566928"/>
            <a:ext cx="1508760" cy="1508760"/>
          </a:xfrm>
          <a:prstGeom prst="arc">
            <a:avLst/>
          </a:prstGeom>
          <a:noFill/>
          <a:ln w="38100">
            <a:solidFill>
              <a:srgbClr val="1F6D8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D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MESSAGE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B2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takeaway: model is trained; now show how it can be used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story focused on business value, validation, and next-step packaging.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completed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data was converted into a trainable AML risk model.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50292" cy="685800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outputs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/ Medium / High risk prediction plus probabilities.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50292" cy="685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2044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leadership should see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prediction demo, validation evidence, and explainability view.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50292" cy="68580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Leadership decision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from local model POC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 controlled AML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decision-support prototype.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01968" y="3383280"/>
            <a:ext cx="3584448" cy="310896"/>
          </a:xfrm>
          <a:prstGeom prst="roundRect">
            <a:avLst/>
          </a:prstGeom>
          <a:solidFill>
            <a:srgbClr val="DDF2A2"/>
          </a:solidFill>
          <a:ln>
            <a:solidFill>
              <a:srgbClr val="DDF2A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Positioning: AI supports analyst review; it does not replace final AML judgment.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85800" y="565099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ask: approve a short next-step cycle to package the local model as a simple prediction API / demo interface.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D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WORKFLOW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B2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AML risk scoring flow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historical client data to a repeatable Low / Medium / High risk prediction.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21792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Data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KYC / AML attributes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621792" y="2423160"/>
            <a:ext cx="41148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9464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80360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model-ready fields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2880360" y="2423160"/>
            <a:ext cx="41148" cy="914400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38928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Labels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/ Medium / High outcomes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5138928" y="2423160"/>
            <a:ext cx="41148" cy="91440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97496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Model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historical patterns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7397496" y="2423160"/>
            <a:ext cx="41148" cy="914400"/>
          </a:xfrm>
          <a:prstGeom prst="rect">
            <a:avLst/>
          </a:prstGeom>
          <a:solidFill>
            <a:srgbClr val="08243A"/>
          </a:solidFill>
          <a:ln w="12700">
            <a:solidFill>
              <a:srgbClr val="08243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45168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656064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+ confidence score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9656064" y="2423160"/>
            <a:ext cx="41148" cy="91440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 for leadership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4407408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EEF7FF"/>
          </a:solidFill>
          <a:ln w="10160">
            <a:solidFill>
              <a:srgbClr val="BCD7F3"/>
            </a:solidFill>
          </a:ln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learns from past cases where the final AML risk rating is already known, then applies those learned patterns to new client records.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D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INPUTS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B2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combines multiple risk dimensions, not a single indicator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keep data details high-level and business-readable.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4617720" y="2761488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Risk Model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learns risk patterns across dimensions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Profile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entity 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segment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50292" cy="868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9659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DECE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/ AML Factors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indicator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Sanctions-related indicators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complexity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366760" y="1965960"/>
            <a:ext cx="50292" cy="868680"/>
          </a:xfrm>
          <a:prstGeom prst="rect">
            <a:avLst/>
          </a:prstGeom>
          <a:solidFill>
            <a:srgbClr val="E83E67"/>
          </a:solidFill>
          <a:ln w="12700">
            <a:solidFill>
              <a:srgbClr val="E83E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4164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8F7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 Risk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of incorporation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of operation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jurisdiction flag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4041648"/>
            <a:ext cx="50292" cy="868680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404164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6E6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/ Activity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indicators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66760" y="4041648"/>
            <a:ext cx="50292" cy="86868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2423160"/>
            <a:ext cx="960120" cy="621792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3044952"/>
            <a:ext cx="868680" cy="-621792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20440" y="4480560"/>
            <a:ext cx="960120" cy="-594360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52360" y="3886200"/>
            <a:ext cx="868680" cy="594360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94760" y="54406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these examples with your actual field categories before presenting.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D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VALIDATION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B2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actual model performance with one clean screenshot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leadership focused on whether the model correctly classifies Low / Medium / High risk categories.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% ]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Risk Recall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% 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 Risk Recall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2336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% 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B6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Risk Recall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% 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" y="2788920"/>
            <a:ext cx="6309360" cy="2560320"/>
          </a:xfrm>
          <a:prstGeom prst="roundRect">
            <a:avLst>
              <a:gd name="adj" fmla="val 2857"/>
            </a:avLst>
          </a:prstGeom>
          <a:solidFill>
            <a:srgbClr val="F9FBFC"/>
          </a:solidFill>
          <a:ln w="17780">
            <a:solidFill>
              <a:srgbClr val="9CB1C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SCREENSHOT 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heatmap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validation chart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screenshot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52360" y="214884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option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heatmap is easier to understand than a raw classification report.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52360" y="2148840"/>
            <a:ext cx="50292" cy="658368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99008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explain 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= actual historical rating; columns = model prediction.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52360" y="2990088"/>
            <a:ext cx="50292" cy="6583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831336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call 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High Risk recall and where Medium cases get confused.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52360" y="3831336"/>
            <a:ext cx="50292" cy="65836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48920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avoid pasting the full sklearn classification_report unless it is moved to appendix.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D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B2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terminal prediction is acceptable for the first POC stage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it as evidence that the trained model can score a client record end-to-end.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6537960" cy="3840480"/>
          </a:xfrm>
          <a:prstGeom prst="roundRect">
            <a:avLst>
              <a:gd name="adj" fmla="val 1905"/>
            </a:avLst>
          </a:prstGeom>
          <a:solidFill>
            <a:srgbClr val="F9FBFC"/>
          </a:solidFill>
          <a:ln w="17780">
            <a:solidFill>
              <a:srgbClr val="9CB1C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TERMINAL SCREENSHOT 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output: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ID | probabilities | final risk rating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leadership should notice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635240" y="2240280"/>
            <a:ext cx="320040" cy="320040"/>
          </a:xfrm>
          <a:prstGeom prst="ellipse">
            <a:avLst/>
          </a:prstGeom>
          <a:solidFill>
            <a:srgbClr val="19A8A6"/>
          </a:solidFill>
          <a:ln>
            <a:solidFill>
              <a:srgbClr val="19A8A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2258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successfully loads and runs locally.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35240" y="2852928"/>
            <a:ext cx="320040" cy="320040"/>
          </a:xfrm>
          <a:prstGeom prst="ellipse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28712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sample client is scored across Low / Medium / High.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35240" y="3465576"/>
            <a:ext cx="320040" cy="320040"/>
          </a:xfrm>
          <a:prstGeom prst="ellipse">
            <a:avLst/>
          </a:prstGeom>
          <a:solidFill>
            <a:srgbClr val="E83E67"/>
          </a:solidFill>
          <a:ln>
            <a:solidFill>
              <a:srgbClr val="E83E6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48386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prediction can later be exposed through an API or UI.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35240" y="4370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terminal format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635240" y="4663440"/>
            <a:ext cx="3337560" cy="868680"/>
          </a:xfrm>
          <a:prstGeom prst="roundRect">
            <a:avLst/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AML Risk Scoring POC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Client: CLIENT_001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LOW 5% | MEDIUM 17% | HIGH 78%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 Risk Rating: HIGH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D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B2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prediction should come with “why”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SHAP or feature importance to explain the key drivers behind the model output.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6309360" cy="3749040"/>
          </a:xfrm>
          <a:prstGeom prst="roundRect">
            <a:avLst>
              <a:gd name="adj" fmla="val 1951"/>
            </a:avLst>
          </a:prstGeom>
          <a:solidFill>
            <a:srgbClr val="F9FBFC"/>
          </a:solidFill>
          <a:ln w="17780">
            <a:solidFill>
              <a:srgbClr val="9CB1C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SHAP / FEATURE IMPORTANCE SCREENSHOT 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bar chart of top risk drivers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one-client explanation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drivers behind the prediction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406640" y="22677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jurisdiction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0" y="2514600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2514600"/>
            <a:ext cx="2971800" cy="73152"/>
          </a:xfrm>
          <a:prstGeom prst="rect">
            <a:avLst/>
          </a:prstGeom>
          <a:solidFill>
            <a:srgbClr val="E83E67"/>
          </a:solidFill>
          <a:ln w="12700">
            <a:solidFill>
              <a:srgbClr val="E83E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889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/ related indicator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06640" y="3136392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3136392"/>
            <a:ext cx="2606040" cy="73152"/>
          </a:xfrm>
          <a:prstGeom prst="rect">
            <a:avLst/>
          </a:prstGeom>
          <a:solidFill>
            <a:srgbClr val="E83E67"/>
          </a:solidFill>
          <a:ln w="12700">
            <a:solidFill>
              <a:srgbClr val="E83E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5112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complexity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06640" y="3758184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758184"/>
            <a:ext cx="2148840" cy="7315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133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risk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06640" y="4379976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4379976"/>
            <a:ext cx="1600200" cy="7315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4754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relationship tenure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06640" y="5001768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5001768"/>
            <a:ext cx="1051560" cy="73152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5440680"/>
            <a:ext cx="3520440" cy="420624"/>
          </a:xfrm>
          <a:prstGeom prst="roundRect">
            <a:avLst/>
          </a:prstGeom>
          <a:solidFill>
            <a:srgbClr val="EEF7FF"/>
          </a:solidFill>
          <a:ln w="8890">
            <a:solidFill>
              <a:srgbClr val="BCD7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to leadership: the model should not only assign a risk category; it should also show the factors pushing the prediction up or down.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D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B22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steps: package the POC for controlled review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trained; the next work is packaging, validation, and user-friendly access.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566928" y="2624328"/>
            <a:ext cx="1417320" cy="4572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training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157984" y="2624328"/>
            <a:ext cx="1417320" cy="4572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prediction demo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749040" y="2624328"/>
            <a:ext cx="1417320" cy="4572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screenshots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actual results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5340096" y="2624328"/>
            <a:ext cx="1417320" cy="4572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API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931152" y="2624328"/>
            <a:ext cx="141732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demo UI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522208" y="2624328"/>
            <a:ext cx="141732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13264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AML review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10113264" y="2624328"/>
            <a:ext cx="141732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520440"/>
            <a:ext cx="10561320" cy="1170432"/>
          </a:xfrm>
          <a:prstGeom prst="roundRect">
            <a:avLst>
              <a:gd name="adj" fmla="val 6250"/>
            </a:avLst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trained local model into a controlled AML decision-support prototype with: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prediction API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screenshots / demo output for leadership review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small validation package using anonymized sample cases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14400" y="55321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close: ask whether leadership is comfortable continuing from local POC to a lightweight API/demo prototype.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AML Risk Scoring POC</dc:title>
  <dc:subject>AI-driven AML risk scoring POC leadership deck</dc:subject>
  <dc:creator>OpenAI</dc:creator>
  <cp:lastModifiedBy>OpenAI</cp:lastModifiedBy>
  <cp:revision>1</cp:revision>
  <dcterms:created xsi:type="dcterms:W3CDTF">2026-08-24T14:17:35Z</dcterms:created>
  <dcterms:modified xsi:type="dcterms:W3CDTF">2026-08-24T14:17:35Z</dcterms:modified>
</cp:coreProperties>
</file>