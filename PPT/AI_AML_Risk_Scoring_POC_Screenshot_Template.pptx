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saying: The model is already trained on our internal sample data. This deck is structured to show leadership the business value through screenshots: how it predicts, how accurate it is, and why each prediction can be explained.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For leaders, a demo screenshot is stronger than code because it shows how the model would be consumed. Explain that detailed training and preprocessing belong in appendix or technical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the bridge: we are not showing data loading and training steps. We are showing proof points that answer leadership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metrics and the heatmap with actual model results. Do not show the whole classification report unless asked. Emphasize High Risk recall and diagonal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sample client record with fake identifiers. Keep it as a simple input-to-output story. This is often more persuasive than a live terminal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presenting, point to the screenshot and then immediately translate it into business language: what the model predicted, how confident it is, and which factors explain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reduces the black-box concern. If you do not have SHAP yet, use feature importance or a manually assembled top-driver chart from the model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also a decision guide for you. Replace the option placeholders with the one or two surfaces you have, or delete unused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clearly that the model is a support tool. It does not replace analysts, policy, or controls. This avoids the wrong impression that the POC is making automated AML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you present, review all screenshots for sensitive data. It is better to use anonymized sample data than to blur too much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clear ask: alignment to proceed from model-only POC to controlled prototype. Mention that screenshots will be updated with actual validation and demo artifacts.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601968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" dirty="0">
                <a:solidFill>
                  <a:srgbClr val="7A8795"/>
                </a:solidFill>
              </a:rPr>
              <a:t>AI-Driven AML Risk Scoring POC</a:t>
            </a:r>
            <a:endParaRPr lang="en-US" sz="4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7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7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C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C2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182880"/>
            <a:ext cx="1828800" cy="1828800"/>
          </a:xfrm>
          <a:prstGeom prst="arc">
            <a:avLst/>
          </a:prstGeom>
          <a:solidFill>
            <a:srgbClr val="000000">
              <a:alpha val="0"/>
            </a:srgbClr>
          </a:solidFill>
          <a:ln w="63500">
            <a:solidFill>
              <a:srgbClr val="0F6470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0" y="502920"/>
            <a:ext cx="1280160" cy="1280160"/>
          </a:xfrm>
          <a:prstGeom prst="arc">
            <a:avLst/>
          </a:prstGeom>
          <a:solidFill>
            <a:srgbClr val="000000">
              <a:alpha val="0"/>
            </a:srgbClr>
          </a:solidFill>
          <a:ln w="50800">
            <a:solidFill>
              <a:srgbClr val="1F5BAA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961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an AI-Driven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AML Risk Scoring POC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7E4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Screenshot-ready leadership deck template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E4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version to paste real demo evidence without exposing code.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3703320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123654"/>
          </a:solidFill>
          <a:ln w="12700">
            <a:solidFill>
              <a:srgbClr val="254F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3822192"/>
            <a:ext cx="10972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Data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029968" y="3950208"/>
            <a:ext cx="475488" cy="0"/>
          </a:xfrm>
          <a:prstGeom prst="line">
            <a:avLst/>
          </a:prstGeom>
          <a:noFill/>
          <a:ln w="15240">
            <a:solidFill>
              <a:srgbClr val="AAB7C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06040" y="3703320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123654"/>
          </a:solidFill>
          <a:ln w="12700">
            <a:solidFill>
              <a:srgbClr val="254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3822192"/>
            <a:ext cx="10972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Model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078224" y="3950208"/>
            <a:ext cx="475488" cy="0"/>
          </a:xfrm>
          <a:prstGeom prst="line">
            <a:avLst/>
          </a:prstGeom>
          <a:noFill/>
          <a:ln w="15240">
            <a:solidFill>
              <a:srgbClr val="AAB7C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63440" y="3758184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DDF3E7"/>
          </a:solidFill>
          <a:ln w="12700">
            <a:solidFill>
              <a:srgbClr val="DDF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817620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670" dirty="0"/>
          </a:p>
        </p:txBody>
      </p:sp>
      <p:sp>
        <p:nvSpPr>
          <p:cNvPr id="16" name="Shape 14"/>
          <p:cNvSpPr/>
          <p:nvPr/>
        </p:nvSpPr>
        <p:spPr>
          <a:xfrm>
            <a:off x="5440680" y="375818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0C9"/>
          </a:solidFill>
          <a:ln w="12700">
            <a:solidFill>
              <a:srgbClr val="FFF0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3817620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6A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670" dirty="0"/>
          </a:p>
        </p:txBody>
      </p:sp>
      <p:sp>
        <p:nvSpPr>
          <p:cNvPr id="18" name="Shape 16"/>
          <p:cNvSpPr/>
          <p:nvPr/>
        </p:nvSpPr>
        <p:spPr>
          <a:xfrm>
            <a:off x="6400800" y="3758184"/>
            <a:ext cx="676656" cy="256032"/>
          </a:xfrm>
          <a:prstGeom prst="roundRect">
            <a:avLst>
              <a:gd name="adj" fmla="val 50000"/>
            </a:avLst>
          </a:prstGeom>
          <a:solidFill>
            <a:srgbClr val="FADDE5"/>
          </a:solidFill>
          <a:ln w="12700">
            <a:solidFill>
              <a:srgbClr val="FADD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817620"/>
            <a:ext cx="676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D928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670" dirty="0"/>
          </a:p>
        </p:txBody>
      </p:sp>
      <p:sp>
        <p:nvSpPr>
          <p:cNvPr id="20" name="Shape 18"/>
          <p:cNvSpPr/>
          <p:nvPr/>
        </p:nvSpPr>
        <p:spPr>
          <a:xfrm>
            <a:off x="7680960" y="29718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061C2F"/>
          </a:solidFill>
          <a:ln w="15240">
            <a:solidFill>
              <a:srgbClr val="10A5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90104" y="2980944"/>
            <a:ext cx="64008" cy="1673352"/>
          </a:xfrm>
          <a:prstGeom prst="rect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3172968"/>
            <a:ext cx="30175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screenshots go here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909560" y="3483864"/>
            <a:ext cx="30175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7E4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one polished screenshot from Streamlit, FastAPI docs, notebook output, or mock UI. Keep only the result area.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7E9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version · drop-in screenshot placeholders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7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0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MESSAGE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outcome, not the training code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01852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purpose of the demo is to make the model tangible: input data, prediction, explanation, and next-step operating model.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64008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takeaway: the model is already trained; the PPT should prove what it does and why it matters.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" y="205740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57400"/>
            <a:ext cx="45720" cy="822960"/>
          </a:xfrm>
          <a:prstGeom prst="rect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167128"/>
            <a:ext cx="276148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show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804672" y="2404872"/>
            <a:ext cx="27614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Screenshots of prediction output, performance heatmap, and explainability/risk drivers.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58368" y="306324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3063240"/>
            <a:ext cx="45720" cy="822960"/>
          </a:xfrm>
          <a:prstGeom prst="rect">
            <a:avLst/>
          </a:prstGeom>
          <a:solidFill>
            <a:srgbClr val="D9285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172968"/>
            <a:ext cx="276148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avoid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804672" y="3410712"/>
            <a:ext cx="27614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VS Code, terminal logs, model.fit(), long notebook cells, or raw client data.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86200" y="205740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057400"/>
            <a:ext cx="45720" cy="822960"/>
          </a:xfrm>
          <a:prstGeom prst="rect">
            <a:avLst/>
          </a:prstGeom>
          <a:solidFill>
            <a:srgbClr val="2B78E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32504" y="2167128"/>
            <a:ext cx="276148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leadership sees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032504" y="2404872"/>
            <a:ext cx="27614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controlled decision-support prototype that can fit into AML/KYC workflow.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886200" y="306324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3063240"/>
            <a:ext cx="45720" cy="822960"/>
          </a:xfrm>
          <a:prstGeom prst="rect">
            <a:avLst/>
          </a:prstGeom>
          <a:solidFill>
            <a:srgbClr val="F6A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32504" y="3172968"/>
            <a:ext cx="276148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frame it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032504" y="3410712"/>
            <a:ext cx="27614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assists analysts and surfaces risk drivers; analysts still own the final decision.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452360" y="1600200"/>
            <a:ext cx="3749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240">
            <a:solidFill>
              <a:srgbClr val="10A5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61504" y="1609344"/>
            <a:ext cx="64008" cy="2450592"/>
          </a:xfrm>
          <a:prstGeom prst="rect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1801368"/>
            <a:ext cx="32918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demo screenshot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680960" y="2112264"/>
            <a:ext cx="329184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one clean screenshot showing either the final AML prediction page or API response. This becomes the visual proof that the POC works.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699248" y="4434840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061C2F"/>
          </a:solidFill>
          <a:ln w="12700">
            <a:solidFill>
              <a:srgbClr val="061C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82128" y="4553712"/>
            <a:ext cx="28346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9C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decision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7882128" y="4709160"/>
            <a:ext cx="28346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model-only POC to controlled AML prototype.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7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0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STORYLINE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screenshots to tell the end-to-end story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01852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screenshot should answer one leadership question and build toward a decision-support prototype.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1828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130552"/>
            <a:ext cx="310896" cy="310896"/>
          </a:xfrm>
          <a:prstGeom prst="ellipse">
            <a:avLst/>
          </a:prstGeom>
          <a:solidFill>
            <a:srgbClr val="2B78E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21284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" y="2121408"/>
            <a:ext cx="117043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Data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097280" y="2313432"/>
            <a:ext cx="11704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we have usable client / AML data?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2514600" y="2350008"/>
            <a:ext cx="274320" cy="0"/>
          </a:xfrm>
          <a:prstGeom prst="line">
            <a:avLst/>
          </a:prstGeom>
          <a:noFill/>
          <a:ln w="15240">
            <a:solidFill>
              <a:srgbClr val="B9C4D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34640" y="1965960"/>
            <a:ext cx="1828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44368" y="2130552"/>
            <a:ext cx="310896" cy="310896"/>
          </a:xfrm>
          <a:prstGeom prst="ellipse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221284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37560" y="2121408"/>
            <a:ext cx="117043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Result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337560" y="2313432"/>
            <a:ext cx="11704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model predict Low / Medium / High?</a:t>
            </a:r>
            <a:endParaRPr lang="en-US" sz="570" dirty="0"/>
          </a:p>
        </p:txBody>
      </p:sp>
      <p:sp>
        <p:nvSpPr>
          <p:cNvPr id="17" name="Shape 15"/>
          <p:cNvSpPr/>
          <p:nvPr/>
        </p:nvSpPr>
        <p:spPr>
          <a:xfrm>
            <a:off x="4754880" y="2350008"/>
            <a:ext cx="274320" cy="0"/>
          </a:xfrm>
          <a:prstGeom prst="line">
            <a:avLst/>
          </a:prstGeom>
          <a:noFill/>
          <a:ln w="15240">
            <a:solidFill>
              <a:srgbClr val="B9C4D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74920" y="1965960"/>
            <a:ext cx="1828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84648" y="2130552"/>
            <a:ext cx="310896" cy="310896"/>
          </a:xfrm>
          <a:prstGeom prst="ellipse">
            <a:avLst/>
          </a:prstGeom>
          <a:solidFill>
            <a:srgbClr val="F6A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84648" y="221284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577840" y="2121408"/>
            <a:ext cx="117043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577840" y="2313432"/>
            <a:ext cx="11704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well did it perform on held-out data?</a:t>
            </a:r>
            <a:endParaRPr lang="en-US" sz="570" dirty="0"/>
          </a:p>
        </p:txBody>
      </p:sp>
      <p:sp>
        <p:nvSpPr>
          <p:cNvPr id="23" name="Shape 21"/>
          <p:cNvSpPr/>
          <p:nvPr/>
        </p:nvSpPr>
        <p:spPr>
          <a:xfrm>
            <a:off x="6995160" y="2350008"/>
            <a:ext cx="274320" cy="0"/>
          </a:xfrm>
          <a:prstGeom prst="line">
            <a:avLst/>
          </a:prstGeom>
          <a:noFill/>
          <a:ln w="15240">
            <a:solidFill>
              <a:srgbClr val="B9C4D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15200" y="1965960"/>
            <a:ext cx="1828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24928" y="2130552"/>
            <a:ext cx="310896" cy="310896"/>
          </a:xfrm>
          <a:prstGeom prst="ellipse">
            <a:avLst/>
          </a:prstGeom>
          <a:solidFill>
            <a:srgbClr val="D9285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24928" y="221284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818120" y="2121408"/>
            <a:ext cx="117043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818120" y="2313432"/>
            <a:ext cx="11704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did the model make this prediction?</a:t>
            </a:r>
            <a:endParaRPr lang="en-US" sz="570" dirty="0"/>
          </a:p>
        </p:txBody>
      </p:sp>
      <p:sp>
        <p:nvSpPr>
          <p:cNvPr id="29" name="Shape 27"/>
          <p:cNvSpPr/>
          <p:nvPr/>
        </p:nvSpPr>
        <p:spPr>
          <a:xfrm>
            <a:off x="9235440" y="2350008"/>
            <a:ext cx="274320" cy="0"/>
          </a:xfrm>
          <a:prstGeom prst="line">
            <a:avLst/>
          </a:prstGeom>
          <a:noFill/>
          <a:ln w="15240">
            <a:solidFill>
              <a:srgbClr val="B9C4D1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555480" y="1965960"/>
            <a:ext cx="1828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65208" y="2130552"/>
            <a:ext cx="310896" cy="310896"/>
          </a:xfrm>
          <a:prstGeom prst="ellipse">
            <a:avLst/>
          </a:prstGeom>
          <a:solidFill>
            <a:srgbClr val="0F9D5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65208" y="221284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058400" y="2121408"/>
            <a:ext cx="117043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0058400" y="2313432"/>
            <a:ext cx="11704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analysts use the output?</a:t>
            </a:r>
            <a:endParaRPr lang="en-US" sz="570" dirty="0"/>
          </a:p>
        </p:txBody>
      </p:sp>
      <p:sp>
        <p:nvSpPr>
          <p:cNvPr id="35" name="Shape 33"/>
          <p:cNvSpPr/>
          <p:nvPr/>
        </p:nvSpPr>
        <p:spPr>
          <a:xfrm>
            <a:off x="731520" y="37033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10A5A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0664" y="3712464"/>
            <a:ext cx="64008" cy="1490472"/>
          </a:xfrm>
          <a:prstGeom prst="rect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3904488"/>
            <a:ext cx="27889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1: model output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60120" y="4215384"/>
            <a:ext cx="27889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fit: final prediction screen, JSON output, Streamlit result, or notebook table with only one sample record.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480560" y="37033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F6A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9704" y="3712464"/>
            <a:ext cx="64008" cy="1490472"/>
          </a:xfrm>
          <a:prstGeom prst="rect">
            <a:avLst/>
          </a:prstGeom>
          <a:solidFill>
            <a:srgbClr val="F6A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904488"/>
            <a:ext cx="27889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2: validation heatmap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709160" y="4215384"/>
            <a:ext cx="27889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fit: confusion matrix heatmap with labels Low / Medium / High. Crop out code cells.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229600" y="37033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9285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38744" y="3712464"/>
            <a:ext cx="64008" cy="1490472"/>
          </a:xfrm>
          <a:prstGeom prst="rect">
            <a:avLst/>
          </a:prstGeom>
          <a:solidFill>
            <a:srgbClr val="D9285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58200" y="3904488"/>
            <a:ext cx="27889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3: explanation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458200" y="4215384"/>
            <a:ext cx="27889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fit: SHAP/risk-driver chart explaining why the model predicted High / Medium / Low.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7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0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RESULTS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screenshot: focus on correct classification by risk category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01852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your real confusion matrix or performance chart here; keep the explanation simple and business-friendly.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36192"/>
            <a:ext cx="11795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78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 %  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117957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Accuracy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11795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result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2176272" y="1417320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9424" y="1536192"/>
            <a:ext cx="11795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28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 %  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9424" y="1874520"/>
            <a:ext cx="117957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Risk Recall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249424" y="2011680"/>
            <a:ext cx="11795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result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3694176" y="1417320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1536192"/>
            <a:ext cx="11795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6A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 %  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67328" y="1874520"/>
            <a:ext cx="117957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Risk Recall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767328" y="2011680"/>
            <a:ext cx="11795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result</a:t>
            </a:r>
            <a:endParaRPr lang="en-US" sz="550" dirty="0"/>
          </a:p>
        </p:txBody>
      </p:sp>
      <p:sp>
        <p:nvSpPr>
          <p:cNvPr id="18" name="Shape 16"/>
          <p:cNvSpPr/>
          <p:nvPr/>
        </p:nvSpPr>
        <p:spPr>
          <a:xfrm>
            <a:off x="5212080" y="1417320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1536192"/>
            <a:ext cx="11795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 %  ]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85232" y="1874520"/>
            <a:ext cx="117957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Risk Recall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285232" y="2011680"/>
            <a:ext cx="117957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actual result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658368" y="2560320"/>
            <a:ext cx="587044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40">
            <a:solidFill>
              <a:srgbClr val="F6A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" y="2569464"/>
            <a:ext cx="64008" cy="3273552"/>
          </a:xfrm>
          <a:prstGeom prst="rect">
            <a:avLst/>
          </a:prstGeom>
          <a:solidFill>
            <a:srgbClr val="F6A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2761488"/>
            <a:ext cx="5413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matrix heatmap screenshot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86968" y="3072384"/>
            <a:ext cx="5413248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the actual heatmap image here. Recommended: crop to show only the heatmap, labels, and color legend. Hide code and notebook toolbar.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95160" y="14173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95160" y="1417320"/>
            <a:ext cx="45720" cy="777240"/>
          </a:xfrm>
          <a:prstGeom prst="rect">
            <a:avLst/>
          </a:prstGeom>
          <a:solidFill>
            <a:srgbClr val="2B78E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41464" y="1527048"/>
            <a:ext cx="385876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explain this slide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141464" y="1764792"/>
            <a:ext cx="385876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= actual historical risk rating. Columns = model prediction. Darker diagonal = more correct predictions.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995160" y="2404872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95160" y="2404872"/>
            <a:ext cx="45720" cy="777240"/>
          </a:xfrm>
          <a:prstGeom prst="rect">
            <a:avLst/>
          </a:prstGeom>
          <a:solidFill>
            <a:srgbClr val="D9285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41464" y="2514600"/>
            <a:ext cx="385876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takeaway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7141464" y="2752344"/>
            <a:ext cx="385876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question is not only overall accuracy, but whether High Risk cases are being identified reliably.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995160" y="3392424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95160" y="3392424"/>
            <a:ext cx="45720" cy="777240"/>
          </a:xfrm>
          <a:prstGeom prst="rect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41464" y="3502152"/>
            <a:ext cx="385876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placeholders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7141464" y="3739896"/>
            <a:ext cx="385876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your real metric values from classification_report and the heatmap generated from your test set.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995160" y="4645152"/>
            <a:ext cx="4114800" cy="658368"/>
          </a:xfrm>
          <a:prstGeom prst="roundRect">
            <a:avLst>
              <a:gd name="adj" fmla="val 8333"/>
            </a:avLst>
          </a:prstGeom>
          <a:solidFill>
            <a:srgbClr val="EAF3FF"/>
          </a:solidFill>
          <a:ln w="12700">
            <a:solidFill>
              <a:srgbClr val="CDE0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68896" y="4773168"/>
            <a:ext cx="37490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B78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speaking line</a:t>
            </a:r>
            <a:endParaRPr lang="en-US" sz="660" dirty="0"/>
          </a:p>
        </p:txBody>
      </p:sp>
      <p:sp>
        <p:nvSpPr>
          <p:cNvPr id="40" name="Text 38"/>
          <p:cNvSpPr/>
          <p:nvPr/>
        </p:nvSpPr>
        <p:spPr>
          <a:xfrm>
            <a:off x="7168896" y="4956048"/>
            <a:ext cx="3749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40" i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“This validates whether the trained model can reproduce historical Low / Medium / High decisions on unseen records.”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7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0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DEMO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one client record flowing into one risk prediction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01852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most intuitive demo page: a clean input screenshot and a clean output screenshot.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40690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5240">
            <a:solidFill>
              <a:srgbClr val="2B78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517904"/>
            <a:ext cx="64008" cy="3593592"/>
          </a:xfrm>
          <a:prstGeom prst="rect">
            <a:avLst/>
          </a:prstGeom>
          <a:solidFill>
            <a:srgbClr val="2B78E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09928"/>
            <a:ext cx="3611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screenshot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020824"/>
            <a:ext cx="3611880" cy="2880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anonymized sample input: selected client attributes, a CSV row, a form, or API request body. Mask all real identifiers.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965192" y="3246120"/>
            <a:ext cx="658368" cy="0"/>
          </a:xfrm>
          <a:prstGeom prst="line">
            <a:avLst/>
          </a:prstGeom>
          <a:noFill/>
          <a:ln w="15240">
            <a:solidFill>
              <a:srgbClr val="10A5A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3035808"/>
            <a:ext cx="411480" cy="411480"/>
          </a:xfrm>
          <a:prstGeom prst="ellipse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317296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897880" y="150876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5240">
            <a:solidFill>
              <a:srgbClr val="10A5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07024" y="1517904"/>
            <a:ext cx="64008" cy="3593592"/>
          </a:xfrm>
          <a:prstGeom prst="rect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709928"/>
            <a:ext cx="4892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screenshot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26480" y="2020824"/>
            <a:ext cx="4892040" cy="2880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prediction result: Low / Medium / High, probability, confidence, top risk drivers, or JSON response.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14400" y="5504688"/>
            <a:ext cx="10012680" cy="502920"/>
          </a:xfrm>
          <a:prstGeom prst="roundRect">
            <a:avLst>
              <a:gd name="adj" fmla="val 10909"/>
            </a:avLst>
          </a:prstGeom>
          <a:solidFill>
            <a:srgbClr val="EAF3FF"/>
          </a:solidFill>
          <a:ln w="12700">
            <a:solidFill>
              <a:srgbClr val="CDE0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5669280"/>
            <a:ext cx="95097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leadership message: “Given one anonymized client record, the POC can return a risk category, confidence, and supporting risk drivers.”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7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0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RISK PREDICTION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one screenshot into a clear business interpretation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01852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make leadership interpret the screenshot alone; add callouts and a short takeaway.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240">
            <a:solidFill>
              <a:srgbClr val="10A5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426464"/>
            <a:ext cx="64008" cy="4462272"/>
          </a:xfrm>
          <a:prstGeom prst="rect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618488"/>
            <a:ext cx="5029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screenshot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86968" y="1929384"/>
            <a:ext cx="5029200" cy="3749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your actual model prediction output here. Recommended: one anonymized client only, with label + confidence visible.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92240" y="1508760"/>
            <a:ext cx="4389120" cy="960120"/>
          </a:xfrm>
          <a:prstGeom prst="roundRect">
            <a:avLst>
              <a:gd name="adj" fmla="val 5714"/>
            </a:avLst>
          </a:prstGeom>
          <a:solidFill>
            <a:srgbClr val="061C2F"/>
          </a:solidFill>
          <a:ln w="12700">
            <a:solidFill>
              <a:srgbClr val="061C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700784"/>
            <a:ext cx="38862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B6C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Prediction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72084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RISK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0" y="1984248"/>
            <a:ext cx="14630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Confidence: [  %  ]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10528" y="2788920"/>
            <a:ext cx="4206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highlight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10528" y="3127248"/>
            <a:ext cx="425196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10528" y="3127248"/>
            <a:ext cx="45720" cy="576072"/>
          </a:xfrm>
          <a:prstGeom prst="rect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3236976"/>
            <a:ext cx="399592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Risk category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656832" y="3474720"/>
            <a:ext cx="39959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label did the model assign: Low / Medium / High?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510528" y="3886200"/>
            <a:ext cx="425196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0528" y="3886200"/>
            <a:ext cx="45720" cy="576072"/>
          </a:xfrm>
          <a:prstGeom prst="rect">
            <a:avLst/>
          </a:prstGeom>
          <a:solidFill>
            <a:srgbClr val="2B78E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3995928"/>
            <a:ext cx="399592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Confidence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656832" y="4233672"/>
            <a:ext cx="39959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probability or confidence only if it is meaningful and calibrated.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510528" y="4645152"/>
            <a:ext cx="425196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0528" y="4645152"/>
            <a:ext cx="45720" cy="576072"/>
          </a:xfrm>
          <a:prstGeom prst="rect">
            <a:avLst/>
          </a:prstGeom>
          <a:solidFill>
            <a:srgbClr val="F6A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4754880"/>
            <a:ext cx="399592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Key drivers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6656832" y="4992624"/>
            <a:ext cx="39959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top factors that pushed the prediction up or down.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510528" y="5532120"/>
            <a:ext cx="4251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40" i="1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fake Client ID such as Client_001. Never show real legal entity names, account numbers, internal IDs, or raw confidential fields.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7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0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why the model assigned the risk rating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01852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AML/KYC audiences, explanation is often more important than the model name.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6400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5240">
            <a:solidFill>
              <a:srgbClr val="D928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426464"/>
            <a:ext cx="64008" cy="4416552"/>
          </a:xfrm>
          <a:prstGeom prst="rect">
            <a:avLst/>
          </a:prstGeom>
          <a:solidFill>
            <a:srgbClr val="D9285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618488"/>
            <a:ext cx="5943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 / feature importance screenshot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86968" y="1929384"/>
            <a:ext cx="5943600" cy="3703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a SHAP waterfall, SHAP bar chart, or top risk driver chart. Crop to keep only the factors and values.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52360" y="1508760"/>
            <a:ext cx="3611880" cy="640080"/>
          </a:xfrm>
          <a:prstGeom prst="roundRect">
            <a:avLst>
              <a:gd name="adj" fmla="val 8571"/>
            </a:avLst>
          </a:prstGeom>
          <a:solidFill>
            <a:srgbClr val="FDE6EC"/>
          </a:solidFill>
          <a:ln w="12700">
            <a:solidFill>
              <a:srgbClr val="F7C0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664208"/>
            <a:ext cx="32004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D928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message</a:t>
            </a:r>
            <a:endParaRPr lang="en-US" sz="670" dirty="0"/>
          </a:p>
        </p:txBody>
      </p:sp>
      <p:sp>
        <p:nvSpPr>
          <p:cNvPr id="12" name="Text 10"/>
          <p:cNvSpPr/>
          <p:nvPr/>
        </p:nvSpPr>
        <p:spPr>
          <a:xfrm>
            <a:off x="7635240" y="1847088"/>
            <a:ext cx="315468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not just a black-box score.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52360" y="2514600"/>
            <a:ext cx="35661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risk drivers to show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52360" y="3012948"/>
            <a:ext cx="1417320" cy="82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jurisdiction</a:t>
            </a:r>
            <a:endParaRPr lang="en-US" sz="570" dirty="0"/>
          </a:p>
        </p:txBody>
      </p:sp>
      <p:sp>
        <p:nvSpPr>
          <p:cNvPr id="15" name="Shape 13"/>
          <p:cNvSpPr/>
          <p:nvPr/>
        </p:nvSpPr>
        <p:spPr>
          <a:xfrm>
            <a:off x="9015984" y="2971800"/>
            <a:ext cx="1481328" cy="219456"/>
          </a:xfrm>
          <a:prstGeom prst="roundRect">
            <a:avLst>
              <a:gd name="adj" fmla="val 12500"/>
            </a:avLst>
          </a:prstGeom>
          <a:solidFill>
            <a:srgbClr val="FDE6EC"/>
          </a:solidFill>
          <a:ln w="12700">
            <a:solidFill>
              <a:srgbClr val="FDE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15984" y="2971800"/>
            <a:ext cx="1298448" cy="219456"/>
          </a:xfrm>
          <a:prstGeom prst="rect">
            <a:avLst/>
          </a:prstGeom>
          <a:solidFill>
            <a:srgbClr val="D92859"/>
          </a:solidFill>
          <a:ln w="12700">
            <a:solidFill>
              <a:srgbClr val="D928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3451860"/>
            <a:ext cx="1417320" cy="82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PEP / sanctions indicator</a:t>
            </a:r>
            <a:endParaRPr lang="en-US" sz="570" dirty="0"/>
          </a:p>
        </p:txBody>
      </p:sp>
      <p:sp>
        <p:nvSpPr>
          <p:cNvPr id="18" name="Shape 16"/>
          <p:cNvSpPr/>
          <p:nvPr/>
        </p:nvSpPr>
        <p:spPr>
          <a:xfrm>
            <a:off x="9015984" y="3410712"/>
            <a:ext cx="1481328" cy="219456"/>
          </a:xfrm>
          <a:prstGeom prst="roundRect">
            <a:avLst>
              <a:gd name="adj" fmla="val 12500"/>
            </a:avLst>
          </a:prstGeom>
          <a:solidFill>
            <a:srgbClr val="FDE6EC"/>
          </a:solidFill>
          <a:ln w="12700">
            <a:solidFill>
              <a:srgbClr val="FDE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15984" y="3410712"/>
            <a:ext cx="1078992" cy="219456"/>
          </a:xfrm>
          <a:prstGeom prst="rect">
            <a:avLst/>
          </a:prstGeom>
          <a:solidFill>
            <a:srgbClr val="D92859"/>
          </a:solidFill>
          <a:ln w="12700">
            <a:solidFill>
              <a:srgbClr val="D928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3890772"/>
            <a:ext cx="1417320" cy="82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ownership</a:t>
            </a:r>
            <a:endParaRPr lang="en-US" sz="570" dirty="0"/>
          </a:p>
        </p:txBody>
      </p:sp>
      <p:sp>
        <p:nvSpPr>
          <p:cNvPr id="21" name="Shape 19"/>
          <p:cNvSpPr/>
          <p:nvPr/>
        </p:nvSpPr>
        <p:spPr>
          <a:xfrm>
            <a:off x="9015984" y="3849624"/>
            <a:ext cx="1481328" cy="219456"/>
          </a:xfrm>
          <a:prstGeom prst="roundRect">
            <a:avLst>
              <a:gd name="adj" fmla="val 12500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15984" y="3849624"/>
            <a:ext cx="841248" cy="219456"/>
          </a:xfrm>
          <a:prstGeom prst="rect">
            <a:avLst/>
          </a:prstGeom>
          <a:solidFill>
            <a:srgbClr val="F6A000"/>
          </a:solidFill>
          <a:ln w="12700">
            <a:solidFill>
              <a:srgbClr val="F6A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4329684"/>
            <a:ext cx="1417320" cy="82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risk</a:t>
            </a:r>
            <a:endParaRPr lang="en-US" sz="570" dirty="0"/>
          </a:p>
        </p:txBody>
      </p:sp>
      <p:sp>
        <p:nvSpPr>
          <p:cNvPr id="24" name="Shape 22"/>
          <p:cNvSpPr/>
          <p:nvPr/>
        </p:nvSpPr>
        <p:spPr>
          <a:xfrm>
            <a:off x="9015984" y="4288536"/>
            <a:ext cx="1481328" cy="219456"/>
          </a:xfrm>
          <a:prstGeom prst="roundRect">
            <a:avLst>
              <a:gd name="adj" fmla="val 12500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15984" y="4288536"/>
            <a:ext cx="621792" cy="219456"/>
          </a:xfrm>
          <a:prstGeom prst="rect">
            <a:avLst/>
          </a:prstGeom>
          <a:solidFill>
            <a:srgbClr val="F6A000"/>
          </a:solidFill>
          <a:ln w="12700">
            <a:solidFill>
              <a:srgbClr val="F6A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4768596"/>
            <a:ext cx="1417320" cy="82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relationship tenure</a:t>
            </a:r>
            <a:endParaRPr lang="en-US" sz="570" dirty="0"/>
          </a:p>
        </p:txBody>
      </p:sp>
      <p:sp>
        <p:nvSpPr>
          <p:cNvPr id="27" name="Shape 25"/>
          <p:cNvSpPr/>
          <p:nvPr/>
        </p:nvSpPr>
        <p:spPr>
          <a:xfrm>
            <a:off x="9015984" y="4727448"/>
            <a:ext cx="1481328" cy="219456"/>
          </a:xfrm>
          <a:prstGeom prst="roundRect">
            <a:avLst>
              <a:gd name="adj" fmla="val 12500"/>
            </a:avLst>
          </a:prstGeom>
          <a:solidFill>
            <a:srgbClr val="E8F6EF"/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15984" y="4727448"/>
            <a:ext cx="384048" cy="219456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5349240"/>
            <a:ext cx="36118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in plain English: “These are the factors that most contributed to the assigned risk rating.”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7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0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SURFACE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screenshot that makes the POC feel usable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01852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one of these options depending on what you have built so far.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5240">
            <a:solidFill>
              <a:srgbClr val="10A5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426464"/>
            <a:ext cx="64008" cy="2816352"/>
          </a:xfrm>
          <a:prstGeom prst="rect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18488"/>
            <a:ext cx="28346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A: Streamlit / simple UI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1929384"/>
            <a:ext cx="283464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leadership. Shows a clean input form and readable AML risk result.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5240">
            <a:solidFill>
              <a:srgbClr val="2B78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1426464"/>
            <a:ext cx="64008" cy="2816352"/>
          </a:xfrm>
          <a:prstGeom prst="rect">
            <a:avLst/>
          </a:prstGeom>
          <a:solidFill>
            <a:srgbClr val="2B78E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18488"/>
            <a:ext cx="28346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B: FastAPI / Swagger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63440" y="1929384"/>
            <a:ext cx="283464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integration discussion. Shows request, response, and endpoint readiness.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83880" y="1417320"/>
            <a:ext cx="31089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5240">
            <a:solidFill>
              <a:srgbClr val="F6A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1426464"/>
            <a:ext cx="64008" cy="2816352"/>
          </a:xfrm>
          <a:prstGeom prst="rect">
            <a:avLst/>
          </a:prstGeom>
          <a:solidFill>
            <a:srgbClr val="F6A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618488"/>
            <a:ext cx="26517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C: Notebook output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12480" y="1929384"/>
            <a:ext cx="265176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Acceptable for early POC. Crop heavily so only the result table/chart is visible.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5800" y="4709160"/>
            <a:ext cx="1828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5047488"/>
            <a:ext cx="10652760" cy="658368"/>
          </a:xfrm>
          <a:prstGeom prst="roundRect">
            <a:avLst>
              <a:gd name="adj" fmla="val 8333"/>
            </a:avLst>
          </a:prstGeom>
          <a:solidFill>
            <a:srgbClr val="061C2F"/>
          </a:solidFill>
          <a:ln w="12700">
            <a:solidFill>
              <a:srgbClr val="061C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285232"/>
            <a:ext cx="101041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management meeting, use Streamlit/simple UI screenshots if possible. Keep Swagger/API screenshots for Appendix or integration discussion.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7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0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FIT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the model as AML decision support, not automated decisioning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01852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framing is safer and more realistic for AML/KYC leadership.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2286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review 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148132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28800"/>
            <a:ext cx="50292" cy="713232"/>
          </a:xfrm>
          <a:prstGeom prst="rect">
            <a:avLst/>
          </a:prstGeom>
          <a:solidFill>
            <a:srgbClr val="2B78E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938528"/>
            <a:ext cx="12618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data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813816" y="2139696"/>
            <a:ext cx="12618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attributes from onboarding / KYC sources</a:t>
            </a:r>
            <a:endParaRPr lang="en-US" sz="560" dirty="0"/>
          </a:p>
        </p:txBody>
      </p:sp>
      <p:sp>
        <p:nvSpPr>
          <p:cNvPr id="11" name="Shape 9"/>
          <p:cNvSpPr/>
          <p:nvPr/>
        </p:nvSpPr>
        <p:spPr>
          <a:xfrm>
            <a:off x="2240280" y="2185416"/>
            <a:ext cx="365760" cy="0"/>
          </a:xfrm>
          <a:prstGeom prst="line">
            <a:avLst/>
          </a:prstGeom>
          <a:noFill/>
          <a:ln w="15240">
            <a:solidFill>
              <a:srgbClr val="AAB7C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97480" y="1828800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1828800"/>
            <a:ext cx="50292" cy="713232"/>
          </a:xfrm>
          <a:prstGeom prst="rect">
            <a:avLst/>
          </a:prstGeom>
          <a:solidFill>
            <a:srgbClr val="F6A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25496" y="1938528"/>
            <a:ext cx="138074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/ manual review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825496" y="2139696"/>
            <a:ext cx="13807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interpretation and existing rule logic</a:t>
            </a:r>
            <a:endParaRPr lang="en-US" sz="560" dirty="0"/>
          </a:p>
        </p:txBody>
      </p:sp>
      <p:sp>
        <p:nvSpPr>
          <p:cNvPr id="16" name="Shape 14"/>
          <p:cNvSpPr/>
          <p:nvPr/>
        </p:nvSpPr>
        <p:spPr>
          <a:xfrm>
            <a:off x="4370832" y="2185416"/>
            <a:ext cx="365760" cy="0"/>
          </a:xfrm>
          <a:prstGeom prst="line">
            <a:avLst/>
          </a:prstGeom>
          <a:noFill/>
          <a:ln w="15240">
            <a:solidFill>
              <a:srgbClr val="AAB7C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828032" y="1828800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28032" y="1828800"/>
            <a:ext cx="50292" cy="713232"/>
          </a:xfrm>
          <a:prstGeom prst="rect">
            <a:avLst/>
          </a:prstGeom>
          <a:solidFill>
            <a:srgbClr val="2B78E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938528"/>
            <a:ext cx="138074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assessment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4956048" y="2139696"/>
            <a:ext cx="13807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rating assigned by analyst / workflow</a:t>
            </a:r>
            <a:endParaRPr lang="en-US" sz="560" dirty="0"/>
          </a:p>
        </p:txBody>
      </p:sp>
      <p:sp>
        <p:nvSpPr>
          <p:cNvPr id="21" name="Shape 19"/>
          <p:cNvSpPr/>
          <p:nvPr/>
        </p:nvSpPr>
        <p:spPr>
          <a:xfrm>
            <a:off x="7315200" y="14173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F6A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24344" y="1426464"/>
            <a:ext cx="64008" cy="1216152"/>
          </a:xfrm>
          <a:prstGeom prst="rect">
            <a:avLst/>
          </a:prstGeom>
          <a:solidFill>
            <a:srgbClr val="F6A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1618488"/>
            <a:ext cx="28346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screenshot: current report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43800" y="1929384"/>
            <a:ext cx="28346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Optional: paste a sanitized current workflow/report screenshot.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5800" y="3429000"/>
            <a:ext cx="3840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decision-support flow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3858768"/>
            <a:ext cx="13716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3858768"/>
            <a:ext cx="50292" cy="713232"/>
          </a:xfrm>
          <a:prstGeom prst="rect">
            <a:avLst/>
          </a:prstGeom>
          <a:solidFill>
            <a:srgbClr val="2B78E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" y="3968496"/>
            <a:ext cx="115214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data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813816" y="4169664"/>
            <a:ext cx="11521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source data and same controls</a:t>
            </a:r>
            <a:endParaRPr lang="en-US" sz="560" dirty="0"/>
          </a:p>
        </p:txBody>
      </p:sp>
      <p:sp>
        <p:nvSpPr>
          <p:cNvPr id="30" name="Shape 28"/>
          <p:cNvSpPr/>
          <p:nvPr/>
        </p:nvSpPr>
        <p:spPr>
          <a:xfrm>
            <a:off x="2130552" y="4215384"/>
            <a:ext cx="365760" cy="0"/>
          </a:xfrm>
          <a:prstGeom prst="line">
            <a:avLst/>
          </a:prstGeom>
          <a:noFill/>
          <a:ln w="15240">
            <a:solidFill>
              <a:srgbClr val="AAB7C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587752" y="3858768"/>
            <a:ext cx="14173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87752" y="3858768"/>
            <a:ext cx="50292" cy="713232"/>
          </a:xfrm>
          <a:prstGeom prst="rect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15768" y="3968496"/>
            <a:ext cx="119786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risk model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2715768" y="4169664"/>
            <a:ext cx="119786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Predicts Low / Medium / High</a:t>
            </a:r>
            <a:endParaRPr lang="en-US" sz="560" dirty="0"/>
          </a:p>
        </p:txBody>
      </p:sp>
      <p:sp>
        <p:nvSpPr>
          <p:cNvPr id="35" name="Shape 33"/>
          <p:cNvSpPr/>
          <p:nvPr/>
        </p:nvSpPr>
        <p:spPr>
          <a:xfrm>
            <a:off x="4078224" y="4215384"/>
            <a:ext cx="365760" cy="0"/>
          </a:xfrm>
          <a:prstGeom prst="line">
            <a:avLst/>
          </a:prstGeom>
          <a:noFill/>
          <a:ln w="15240">
            <a:solidFill>
              <a:srgbClr val="AAB7C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535424" y="3858768"/>
            <a:ext cx="14173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35424" y="3858768"/>
            <a:ext cx="50292" cy="713232"/>
          </a:xfrm>
          <a:prstGeom prst="rect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968496"/>
            <a:ext cx="119786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drivers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4663440" y="4169664"/>
            <a:ext cx="119786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confidence and explanation</a:t>
            </a:r>
            <a:endParaRPr lang="en-US" sz="560" dirty="0"/>
          </a:p>
        </p:txBody>
      </p:sp>
      <p:sp>
        <p:nvSpPr>
          <p:cNvPr id="40" name="Shape 38"/>
          <p:cNvSpPr/>
          <p:nvPr/>
        </p:nvSpPr>
        <p:spPr>
          <a:xfrm>
            <a:off x="6025896" y="4215384"/>
            <a:ext cx="365760" cy="0"/>
          </a:xfrm>
          <a:prstGeom prst="line">
            <a:avLst/>
          </a:prstGeom>
          <a:noFill/>
          <a:ln w="15240">
            <a:solidFill>
              <a:srgbClr val="AAB7C5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483096" y="3858768"/>
            <a:ext cx="15544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83096" y="3858768"/>
            <a:ext cx="50292" cy="713232"/>
          </a:xfrm>
          <a:prstGeom prst="rect">
            <a:avLst/>
          </a:prstGeom>
          <a:solidFill>
            <a:srgbClr val="0F9D5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11112" y="3968496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 decision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6611112" y="4169664"/>
            <a:ext cx="13350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and final disposition</a:t>
            </a:r>
            <a:endParaRPr lang="en-US" sz="560" dirty="0"/>
          </a:p>
        </p:txBody>
      </p:sp>
      <p:sp>
        <p:nvSpPr>
          <p:cNvPr id="45" name="Shape 43"/>
          <p:cNvSpPr/>
          <p:nvPr/>
        </p:nvSpPr>
        <p:spPr>
          <a:xfrm>
            <a:off x="8275320" y="34290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10A5A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84464" y="3438144"/>
            <a:ext cx="64008" cy="1536192"/>
          </a:xfrm>
          <a:prstGeom prst="rect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0" y="3630168"/>
            <a:ext cx="20574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Screenshot: model output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503920" y="3941064"/>
            <a:ext cx="20574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Optional: paste a small prediction/result screenshot here.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418320" y="2651760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FFF3D8"/>
          </a:solidFill>
          <a:ln w="12700">
            <a:solidFill>
              <a:srgbClr val="F6A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555480" y="2788920"/>
            <a:ext cx="109728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Positioning: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support only</a:t>
            </a:r>
            <a:endParaRPr lang="en-US" sz="620" dirty="0"/>
          </a:p>
        </p:txBody>
      </p:sp>
      <p:sp>
        <p:nvSpPr>
          <p:cNvPr id="51" name="Text 49"/>
          <p:cNvSpPr/>
          <p:nvPr/>
        </p:nvSpPr>
        <p:spPr>
          <a:xfrm>
            <a:off x="4206240" y="5669280"/>
            <a:ext cx="402336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replacement for analyst judgment, policy, or required controls.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7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0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CHECKLIST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demo evidence polished, safe, and easy to understand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01852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your checklist before sending or presenting the deck.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08760"/>
            <a:ext cx="3246120" cy="73152"/>
          </a:xfrm>
          <a:prstGeom prst="rect">
            <a:avLst/>
          </a:prstGeom>
          <a:solidFill>
            <a:srgbClr val="2B78E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Clean the frame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4984" y="2331720"/>
            <a:ext cx="128016" cy="128016"/>
          </a:xfrm>
          <a:prstGeom prst="ellipse">
            <a:avLst/>
          </a:prstGeom>
          <a:solidFill>
            <a:srgbClr val="2B78E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267712"/>
            <a:ext cx="24231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browser bars, taskbar, notebook cell numbers, and terminal noise.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1014984" y="2990088"/>
            <a:ext cx="128016" cy="128016"/>
          </a:xfrm>
          <a:prstGeom prst="ellipse">
            <a:avLst/>
          </a:prstGeom>
          <a:solidFill>
            <a:srgbClr val="2B78E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926080"/>
            <a:ext cx="24231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Zoom in until the result is readable.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1014984" y="3648456"/>
            <a:ext cx="128016" cy="128016"/>
          </a:xfrm>
          <a:prstGeom prst="ellipse">
            <a:avLst/>
          </a:prstGeom>
          <a:solidFill>
            <a:srgbClr val="2B78E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584448"/>
            <a:ext cx="24231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one screenshot per concept.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434840" y="150876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508760"/>
            <a:ext cx="3246120" cy="73152"/>
          </a:xfrm>
          <a:prstGeom prst="rect">
            <a:avLst/>
          </a:prstGeom>
          <a:solidFill>
            <a:srgbClr val="D9285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Protect data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72584" y="2331720"/>
            <a:ext cx="128016" cy="128016"/>
          </a:xfrm>
          <a:prstGeom prst="ellipse">
            <a:avLst/>
          </a:prstGeom>
          <a:solidFill>
            <a:srgbClr val="D9285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267712"/>
            <a:ext cx="24231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names with Client_001 or Sample Entity.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672584" y="2990088"/>
            <a:ext cx="128016" cy="128016"/>
          </a:xfrm>
          <a:prstGeom prst="ellipse">
            <a:avLst/>
          </a:prstGeom>
          <a:solidFill>
            <a:srgbClr val="D9285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926080"/>
            <a:ext cx="24231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 LE IDs, account numbers, addresses, and real internal IDs.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672584" y="3648456"/>
            <a:ext cx="128016" cy="128016"/>
          </a:xfrm>
          <a:prstGeom prst="ellipse">
            <a:avLst/>
          </a:prstGeom>
          <a:solidFill>
            <a:srgbClr val="D9285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584448"/>
            <a:ext cx="24231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raw extracts with many confidential fields.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8092440" y="150876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2440" y="1508760"/>
            <a:ext cx="3246120" cy="73152"/>
          </a:xfrm>
          <a:prstGeom prst="rect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Add interpretation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330184" y="2331720"/>
            <a:ext cx="128016" cy="128016"/>
          </a:xfrm>
          <a:prstGeom prst="ellipse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2267712"/>
            <a:ext cx="24231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callouts so leaders know where to look.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8330184" y="2990088"/>
            <a:ext cx="128016" cy="128016"/>
          </a:xfrm>
          <a:prstGeom prst="ellipse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2926080"/>
            <a:ext cx="24231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technical output into AML/KYC meaning.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8330184" y="3648456"/>
            <a:ext cx="128016" cy="128016"/>
          </a:xfrm>
          <a:prstGeom prst="ellipse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3584448"/>
            <a:ext cx="24231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 code and detailed logs in appendix only.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2377440" y="5321808"/>
            <a:ext cx="7452360" cy="566928"/>
          </a:xfrm>
          <a:prstGeom prst="roundRect">
            <a:avLst>
              <a:gd name="adj" fmla="val 9677"/>
            </a:avLst>
          </a:prstGeom>
          <a:solidFill>
            <a:srgbClr val="E8F6EF"/>
          </a:solidFill>
          <a:ln w="12700">
            <a:solidFill>
              <a:srgbClr val="B8E4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5541264"/>
            <a:ext cx="69037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of thumb: leadership should understand the screenshot in 5 seconds without reading code.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7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0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progress and screenshot-driven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01852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ask for alignment on the next controlled prototype phase.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143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2267712"/>
            <a:ext cx="9601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640" dirty="0"/>
          </a:p>
          <a:p>
            <a:pPr algn="ctr" indent="0" marL="0">
              <a:buNone/>
            </a:pPr>
            <a:r>
              <a:rPr lang="en-US" sz="64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</a:t>
            </a:r>
            <a:endParaRPr lang="en-US" sz="640" dirty="0"/>
          </a:p>
        </p:txBody>
      </p:sp>
      <p:sp>
        <p:nvSpPr>
          <p:cNvPr id="8" name="Shape 6"/>
          <p:cNvSpPr/>
          <p:nvPr/>
        </p:nvSpPr>
        <p:spPr>
          <a:xfrm>
            <a:off x="841248" y="2697480"/>
            <a:ext cx="749808" cy="182880"/>
          </a:xfrm>
          <a:prstGeom prst="roundRect">
            <a:avLst>
              <a:gd name="adj" fmla="val 25000"/>
            </a:avLst>
          </a:prstGeom>
          <a:solidFill>
            <a:srgbClr val="E8F6EF"/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743200"/>
            <a:ext cx="7498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9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</a:t>
            </a:r>
            <a:endParaRPr lang="en-US" sz="490" dirty="0"/>
          </a:p>
        </p:txBody>
      </p:sp>
      <p:sp>
        <p:nvSpPr>
          <p:cNvPr id="10" name="Shape 8"/>
          <p:cNvSpPr/>
          <p:nvPr/>
        </p:nvSpPr>
        <p:spPr>
          <a:xfrm>
            <a:off x="1901952" y="2743200"/>
            <a:ext cx="146304" cy="0"/>
          </a:xfrm>
          <a:prstGeom prst="line">
            <a:avLst/>
          </a:prstGeom>
          <a:noFill/>
          <a:ln w="15240">
            <a:solidFill>
              <a:srgbClr val="B9C4D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21408" y="2057400"/>
            <a:ext cx="1143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267712"/>
            <a:ext cx="9601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640" dirty="0"/>
          </a:p>
          <a:p>
            <a:pPr algn="ctr" indent="0" marL="0">
              <a:buNone/>
            </a:pPr>
            <a:r>
              <a:rPr lang="en-US" sz="64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2322576" y="2697480"/>
            <a:ext cx="749808" cy="182880"/>
          </a:xfrm>
          <a:prstGeom prst="roundRect">
            <a:avLst>
              <a:gd name="adj" fmla="val 25000"/>
            </a:avLst>
          </a:prstGeom>
          <a:solidFill>
            <a:srgbClr val="E8F6EF"/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22576" y="2743200"/>
            <a:ext cx="7498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9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</a:t>
            </a:r>
            <a:endParaRPr lang="en-US" sz="490" dirty="0"/>
          </a:p>
        </p:txBody>
      </p:sp>
      <p:sp>
        <p:nvSpPr>
          <p:cNvPr id="15" name="Shape 13"/>
          <p:cNvSpPr/>
          <p:nvPr/>
        </p:nvSpPr>
        <p:spPr>
          <a:xfrm>
            <a:off x="3383280" y="2743200"/>
            <a:ext cx="146304" cy="0"/>
          </a:xfrm>
          <a:prstGeom prst="line">
            <a:avLst/>
          </a:prstGeom>
          <a:noFill/>
          <a:ln w="15240">
            <a:solidFill>
              <a:srgbClr val="B9C4D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02736" y="2057400"/>
            <a:ext cx="1143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85032" y="2267712"/>
            <a:ext cx="9601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640" dirty="0"/>
          </a:p>
          <a:p>
            <a:pPr algn="ctr" indent="0" marL="0">
              <a:buNone/>
            </a:pPr>
            <a:r>
              <a:rPr lang="en-US" sz="64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640" dirty="0"/>
          </a:p>
        </p:txBody>
      </p:sp>
      <p:sp>
        <p:nvSpPr>
          <p:cNvPr id="18" name="Shape 16"/>
          <p:cNvSpPr/>
          <p:nvPr/>
        </p:nvSpPr>
        <p:spPr>
          <a:xfrm>
            <a:off x="3803904" y="2697480"/>
            <a:ext cx="749808" cy="182880"/>
          </a:xfrm>
          <a:prstGeom prst="roundRect">
            <a:avLst>
              <a:gd name="adj" fmla="val 25000"/>
            </a:avLst>
          </a:prstGeom>
          <a:solidFill>
            <a:srgbClr val="E8F6EF"/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03904" y="2743200"/>
            <a:ext cx="7498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9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</a:t>
            </a:r>
            <a:endParaRPr lang="en-US" sz="490" dirty="0"/>
          </a:p>
        </p:txBody>
      </p:sp>
      <p:sp>
        <p:nvSpPr>
          <p:cNvPr id="20" name="Shape 18"/>
          <p:cNvSpPr/>
          <p:nvPr/>
        </p:nvSpPr>
        <p:spPr>
          <a:xfrm>
            <a:off x="4864608" y="2743200"/>
            <a:ext cx="146304" cy="0"/>
          </a:xfrm>
          <a:prstGeom prst="line">
            <a:avLst/>
          </a:prstGeom>
          <a:noFill/>
          <a:ln w="15240">
            <a:solidFill>
              <a:srgbClr val="B9C4D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84064" y="2057400"/>
            <a:ext cx="1143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267712"/>
            <a:ext cx="9601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640" dirty="0"/>
          </a:p>
          <a:p>
            <a:pPr algn="ctr" indent="0" marL="0">
              <a:buNone/>
            </a:pPr>
            <a:r>
              <a:rPr lang="en-US" sz="64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Screenshots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5285232" y="2697480"/>
            <a:ext cx="749808" cy="182880"/>
          </a:xfrm>
          <a:prstGeom prst="roundRect">
            <a:avLst>
              <a:gd name="adj" fmla="val 25000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2743200"/>
            <a:ext cx="7498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90" b="1" dirty="0">
                <a:solidFill>
                  <a:srgbClr val="F6A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</a:t>
            </a:r>
            <a:endParaRPr lang="en-US" sz="490" dirty="0"/>
          </a:p>
        </p:txBody>
      </p:sp>
      <p:sp>
        <p:nvSpPr>
          <p:cNvPr id="25" name="Shape 23"/>
          <p:cNvSpPr/>
          <p:nvPr/>
        </p:nvSpPr>
        <p:spPr>
          <a:xfrm>
            <a:off x="6345936" y="2743200"/>
            <a:ext cx="146304" cy="0"/>
          </a:xfrm>
          <a:prstGeom prst="line">
            <a:avLst/>
          </a:prstGeom>
          <a:noFill/>
          <a:ln w="15240">
            <a:solidFill>
              <a:srgbClr val="B9C4D1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65392" y="2057400"/>
            <a:ext cx="1143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7688" y="2267712"/>
            <a:ext cx="9601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</a:t>
            </a:r>
            <a:endParaRPr lang="en-US" sz="640" dirty="0"/>
          </a:p>
          <a:p>
            <a:pPr algn="ctr" indent="0" marL="0">
              <a:buNone/>
            </a:pPr>
            <a:r>
              <a:rPr lang="en-US" sz="64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Screenshots</a:t>
            </a:r>
            <a:endParaRPr lang="en-US" sz="640" dirty="0"/>
          </a:p>
        </p:txBody>
      </p:sp>
      <p:sp>
        <p:nvSpPr>
          <p:cNvPr id="28" name="Shape 26"/>
          <p:cNvSpPr/>
          <p:nvPr/>
        </p:nvSpPr>
        <p:spPr>
          <a:xfrm>
            <a:off x="6766560" y="2697480"/>
            <a:ext cx="749808" cy="182880"/>
          </a:xfrm>
          <a:prstGeom prst="roundRect">
            <a:avLst>
              <a:gd name="adj" fmla="val 25000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2743200"/>
            <a:ext cx="7498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90" b="1" dirty="0">
                <a:solidFill>
                  <a:srgbClr val="F6A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</a:t>
            </a:r>
            <a:endParaRPr lang="en-US" sz="490" dirty="0"/>
          </a:p>
        </p:txBody>
      </p:sp>
      <p:sp>
        <p:nvSpPr>
          <p:cNvPr id="30" name="Shape 28"/>
          <p:cNvSpPr/>
          <p:nvPr/>
        </p:nvSpPr>
        <p:spPr>
          <a:xfrm>
            <a:off x="7827264" y="2743200"/>
            <a:ext cx="146304" cy="0"/>
          </a:xfrm>
          <a:prstGeom prst="line">
            <a:avLst/>
          </a:prstGeom>
          <a:noFill/>
          <a:ln w="15240">
            <a:solidFill>
              <a:srgbClr val="B9C4D1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046720" y="2057400"/>
            <a:ext cx="1143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29016" y="2267712"/>
            <a:ext cx="9601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640" dirty="0"/>
          </a:p>
          <a:p>
            <a:pPr algn="ctr" indent="0" marL="0">
              <a:buNone/>
            </a:pPr>
            <a:r>
              <a:rPr lang="en-US" sz="64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/ UI</a:t>
            </a:r>
            <a:endParaRPr lang="en-US" sz="640" dirty="0"/>
          </a:p>
        </p:txBody>
      </p:sp>
      <p:sp>
        <p:nvSpPr>
          <p:cNvPr id="33" name="Shape 31"/>
          <p:cNvSpPr/>
          <p:nvPr/>
        </p:nvSpPr>
        <p:spPr>
          <a:xfrm>
            <a:off x="8247888" y="2697480"/>
            <a:ext cx="749808" cy="182880"/>
          </a:xfrm>
          <a:prstGeom prst="roundRect">
            <a:avLst>
              <a:gd name="adj" fmla="val 25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47888" y="2743200"/>
            <a:ext cx="7498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90" b="1" dirty="0">
                <a:solidFill>
                  <a:srgbClr val="2B78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490" dirty="0"/>
          </a:p>
        </p:txBody>
      </p:sp>
      <p:sp>
        <p:nvSpPr>
          <p:cNvPr id="35" name="Shape 33"/>
          <p:cNvSpPr/>
          <p:nvPr/>
        </p:nvSpPr>
        <p:spPr>
          <a:xfrm>
            <a:off x="9308592" y="2743200"/>
            <a:ext cx="146304" cy="0"/>
          </a:xfrm>
          <a:prstGeom prst="line">
            <a:avLst/>
          </a:prstGeom>
          <a:noFill/>
          <a:ln w="15240">
            <a:solidFill>
              <a:srgbClr val="B9C4D1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528048" y="2057400"/>
            <a:ext cx="1143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10344" y="2267712"/>
            <a:ext cx="9601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640" dirty="0"/>
          </a:p>
          <a:p>
            <a:pPr algn="ctr" indent="0" marL="0">
              <a:buNone/>
            </a:pPr>
            <a:r>
              <a:rPr lang="en-US" sz="640" b="1" dirty="0">
                <a:solidFill>
                  <a:srgbClr val="09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</a:t>
            </a:r>
            <a:endParaRPr lang="en-US" sz="640" dirty="0"/>
          </a:p>
        </p:txBody>
      </p:sp>
      <p:sp>
        <p:nvSpPr>
          <p:cNvPr id="38" name="Shape 36"/>
          <p:cNvSpPr/>
          <p:nvPr/>
        </p:nvSpPr>
        <p:spPr>
          <a:xfrm>
            <a:off x="9729216" y="2697480"/>
            <a:ext cx="749808" cy="182880"/>
          </a:xfrm>
          <a:prstGeom prst="roundRect">
            <a:avLst>
              <a:gd name="adj" fmla="val 25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29216" y="2743200"/>
            <a:ext cx="7498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90" b="1" dirty="0">
                <a:solidFill>
                  <a:srgbClr val="2B78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490" dirty="0"/>
          </a:p>
        </p:txBody>
      </p:sp>
      <p:sp>
        <p:nvSpPr>
          <p:cNvPr id="40" name="Shape 38"/>
          <p:cNvSpPr/>
          <p:nvPr/>
        </p:nvSpPr>
        <p:spPr>
          <a:xfrm>
            <a:off x="822960" y="3749040"/>
            <a:ext cx="10012680" cy="777240"/>
          </a:xfrm>
          <a:prstGeom prst="roundRect">
            <a:avLst>
              <a:gd name="adj" fmla="val 8235"/>
            </a:avLst>
          </a:prstGeom>
          <a:solidFill>
            <a:srgbClr val="061C2F"/>
          </a:solidFill>
          <a:ln w="12700">
            <a:solidFill>
              <a:srgbClr val="061C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3913632"/>
            <a:ext cx="95097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A9C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next step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097280" y="4160520"/>
            <a:ext cx="955548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trained model into a controlled AML decision-support prototype with real demo screenshots, a prediction API, explainability output, and sample-case review workflow.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868680" y="5230368"/>
            <a:ext cx="228600" cy="228600"/>
          </a:xfrm>
          <a:prstGeom prst="ellipse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5303520"/>
            <a:ext cx="22860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50" dirty="0"/>
          </a:p>
        </p:txBody>
      </p:sp>
      <p:sp>
        <p:nvSpPr>
          <p:cNvPr id="45" name="Text 43"/>
          <p:cNvSpPr/>
          <p:nvPr/>
        </p:nvSpPr>
        <p:spPr>
          <a:xfrm>
            <a:off x="1188720" y="5212080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Finalize metrics + validation screenshots</a:t>
            </a:r>
            <a:endParaRPr lang="en-US" sz="630" dirty="0"/>
          </a:p>
        </p:txBody>
      </p:sp>
      <p:sp>
        <p:nvSpPr>
          <p:cNvPr id="46" name="Shape 44"/>
          <p:cNvSpPr/>
          <p:nvPr/>
        </p:nvSpPr>
        <p:spPr>
          <a:xfrm>
            <a:off x="3611880" y="5230368"/>
            <a:ext cx="228600" cy="228600"/>
          </a:xfrm>
          <a:prstGeom prst="ellipse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11880" y="5303520"/>
            <a:ext cx="22860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50" dirty="0"/>
          </a:p>
        </p:txBody>
      </p:sp>
      <p:sp>
        <p:nvSpPr>
          <p:cNvPr id="48" name="Text 46"/>
          <p:cNvSpPr/>
          <p:nvPr/>
        </p:nvSpPr>
        <p:spPr>
          <a:xfrm>
            <a:off x="3931920" y="5212080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model + preprocessing pipeline</a:t>
            </a:r>
            <a:endParaRPr lang="en-US" sz="630" dirty="0"/>
          </a:p>
        </p:txBody>
      </p:sp>
      <p:sp>
        <p:nvSpPr>
          <p:cNvPr id="49" name="Shape 47"/>
          <p:cNvSpPr/>
          <p:nvPr/>
        </p:nvSpPr>
        <p:spPr>
          <a:xfrm>
            <a:off x="6355080" y="5230368"/>
            <a:ext cx="228600" cy="228600"/>
          </a:xfrm>
          <a:prstGeom prst="ellipse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5303520"/>
            <a:ext cx="22860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50" dirty="0"/>
          </a:p>
        </p:txBody>
      </p:sp>
      <p:sp>
        <p:nvSpPr>
          <p:cNvPr id="51" name="Text 49"/>
          <p:cNvSpPr/>
          <p:nvPr/>
        </p:nvSpPr>
        <p:spPr>
          <a:xfrm>
            <a:off x="6675120" y="5212080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prediction API / demo UI</a:t>
            </a:r>
            <a:endParaRPr lang="en-US" sz="630" dirty="0"/>
          </a:p>
        </p:txBody>
      </p:sp>
      <p:sp>
        <p:nvSpPr>
          <p:cNvPr id="52" name="Shape 50"/>
          <p:cNvSpPr/>
          <p:nvPr/>
        </p:nvSpPr>
        <p:spPr>
          <a:xfrm>
            <a:off x="9098280" y="5230368"/>
            <a:ext cx="228600" cy="228600"/>
          </a:xfrm>
          <a:prstGeom prst="ellipse">
            <a:avLst/>
          </a:prstGeom>
          <a:solidFill>
            <a:srgbClr val="10A5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98280" y="5303520"/>
            <a:ext cx="22860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550" dirty="0"/>
          </a:p>
        </p:txBody>
      </p:sp>
      <p:sp>
        <p:nvSpPr>
          <p:cNvPr id="54" name="Text 52"/>
          <p:cNvSpPr/>
          <p:nvPr/>
        </p:nvSpPr>
        <p:spPr>
          <a:xfrm>
            <a:off x="9418320" y="5212080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61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sample outputs with stakeholders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7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AML Risk Scoring POC - Screenshot Template</dc:title>
  <dc:subject>AI-Driven AML Risk Scoring POC Screenshot Template</dc:subject>
  <dc:creator>OpenAI</dc:creator>
  <cp:lastModifiedBy>OpenAI</cp:lastModifiedBy>
  <cp:revision>1</cp:revision>
  <dcterms:created xsi:type="dcterms:W3CDTF">2026-08-21T22:06:22Z</dcterms:created>
  <dcterms:modified xsi:type="dcterms:W3CDTF">2026-08-21T22:06:22Z</dcterms:modified>
</cp:coreProperties>
</file>